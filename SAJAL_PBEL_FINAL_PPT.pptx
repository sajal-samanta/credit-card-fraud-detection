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90" r:id="rId3"/>
    <p:sldId id="270" r:id="rId4"/>
    <p:sldId id="267" r:id="rId5"/>
    <p:sldId id="262" r:id="rId6"/>
    <p:sldId id="259" r:id="rId7"/>
    <p:sldId id="265" r:id="rId8"/>
    <p:sldId id="291" r:id="rId9"/>
    <p:sldId id="292" r:id="rId10"/>
    <p:sldId id="261" r:id="rId11"/>
    <p:sldId id="260" r:id="rId12"/>
    <p:sldId id="258" r:id="rId13"/>
    <p:sldId id="287" r:id="rId14"/>
  </p:sldIdLst>
  <p:sldSz cx="18288000" cy="10287000"/>
  <p:notesSz cx="6858000" cy="9144000"/>
  <p:embeddedFontLs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Teko" panose="020B0604020202020204" charset="0"/>
      <p:bold r:id="rId24"/>
    </p:embeddedFont>
    <p:embeddedFont>
      <p:font typeface="Teko Medium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9595"/>
    <a:srgbClr val="E90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4C72C-95E9-45EC-A692-8E0A0CEE00E5}" v="552" dt="2025-11-13T16:25:28.680"/>
  </p1510:revLst>
</p1510:revInfo>
</file>

<file path=ppt/tableStyles.xml><?xml version="1.0" encoding="utf-8"?>
<a:tblStyleLst xmlns:a="http://schemas.openxmlformats.org/drawingml/2006/main" def="{AE2EDF44-7F8E-4724-8987-9EACE496F446}">
  <a:tblStyle styleId="{AE2EDF44-7F8E-4724-8987-9EACE496F4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30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EB61F0A2-6E3F-CC4B-579E-13232F1D6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F5C0B65C-5C91-D0A9-ABE4-230305817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>
            <a:extLst>
              <a:ext uri="{FF2B5EF4-FFF2-40B4-BE49-F238E27FC236}">
                <a16:creationId xmlns:a16="http://schemas.microsoft.com/office/drawing/2014/main" id="{F0937D6E-3259-E38A-7806-7EEE9431F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877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B59C71C-3ACE-35E5-B0A3-29D3073E6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DC5EA2B0-B9A5-B2BE-0F85-F8F18AA19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8D5B35CD-ED4E-F26C-AF0E-8E0593002D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7200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redit-card-fraud-detection-djpk2qfpzyfov9yfmavpsr.streamlit.app/" TargetMode="External"/><Relationship Id="rId3" Type="http://schemas.openxmlformats.org/officeDocument/2006/relationships/image" Target="../media/image16.jpg"/><Relationship Id="rId7" Type="http://schemas.openxmlformats.org/officeDocument/2006/relationships/hyperlink" Target="https://drive.google.com/file/d/1DFoq8OFrZuCiIomSBjEDNRy17rNT1Tub/view?usp=drivesdk" TargetMode="External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5.jpeg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hyperlink" Target="https://github.com/sajal-samanta/credit-card-fraud-detecti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6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github.com/sajal-samanta/credit-card-fraud-detec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dit-card-fraud-detection-djpk2qfpzyfov9yfmavpsr.streamlit.app/" TargetMode="External"/><Relationship Id="rId5" Type="http://schemas.openxmlformats.org/officeDocument/2006/relationships/hyperlink" Target="https://drive.google.com/file/d/1DFoq8OFrZuCiIomSBjEDNRy17rNT1Tub/view?usp=drivesdk" TargetMode="Externa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github.com/sajal-samanta/credit-card-fraud-detec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dit-card-fraud-detection-djpk2qfpzyfov9yfmavpsr.streamlit.app/" TargetMode="External"/><Relationship Id="rId5" Type="http://schemas.openxmlformats.org/officeDocument/2006/relationships/hyperlink" Target="https://drive.google.com/file/d/1DFoq8OFrZuCiIomSBjEDNRy17rNT1Tub/view?usp=drivesdk" TargetMode="Externa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14990" y="0"/>
            <a:ext cx="18288001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14866004" y="6140576"/>
            <a:ext cx="10980410" cy="11029628"/>
            <a:chOff x="1813" y="0"/>
            <a:chExt cx="809173" cy="812800"/>
          </a:xfrm>
        </p:grpSpPr>
        <p:sp>
          <p:nvSpPr>
            <p:cNvPr id="86" name="Google Shape;86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1B89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297799" y="577773"/>
            <a:ext cx="17043816" cy="3055274"/>
            <a:chOff x="-6155097" y="-3306238"/>
            <a:chExt cx="22725090" cy="4073699"/>
          </a:xfrm>
        </p:grpSpPr>
        <p:sp>
          <p:nvSpPr>
            <p:cNvPr id="89" name="Google Shape;89;p13"/>
            <p:cNvSpPr txBox="1"/>
            <p:nvPr/>
          </p:nvSpPr>
          <p:spPr>
            <a:xfrm>
              <a:off x="-3568317" y="-3306238"/>
              <a:ext cx="18846547" cy="2215991"/>
            </a:xfrm>
            <a:prstGeom prst="rect">
              <a:avLst/>
            </a:prstGeom>
            <a:noFill/>
            <a:ln>
              <a:noFill/>
            </a:ln>
            <a:effectLst>
              <a:outerShdw blurRad="828675" dist="95250" dir="1020000" algn="bl" rotWithShape="0">
                <a:srgbClr val="6CE5E8">
                  <a:alpha val="95000"/>
                </a:srgbClr>
              </a:outerShdw>
            </a:effectLst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0" b="0" i="0" u="none" strike="noStrike" cap="none" dirty="0">
                  <a:solidFill>
                    <a:schemeClr val="lt1"/>
                  </a:solidFill>
                  <a:latin typeface="Teko Medium"/>
                  <a:ea typeface="Teko Medium"/>
                  <a:cs typeface="Teko Medium"/>
                  <a:sym typeface="Teko Medium"/>
                </a:rPr>
                <a:t>FEATURE ENGINEERING FOR </a:t>
              </a:r>
              <a:endParaRPr lang="en-US" sz="9000" dirty="0"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-6155097" y="-1694751"/>
              <a:ext cx="22725090" cy="2462212"/>
            </a:xfrm>
            <a:prstGeom prst="rect">
              <a:avLst/>
            </a:prstGeom>
            <a:noFill/>
            <a:ln>
              <a:noFill/>
            </a:ln>
            <a:effectLst>
              <a:outerShdw blurRad="828675" dist="19050" dir="1200000" algn="bl" rotWithShape="0">
                <a:srgbClr val="6CE5E8">
                  <a:alpha val="95000"/>
                </a:srgbClr>
              </a:outerShdw>
            </a:effectLst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0" b="0" i="0" u="none" strike="noStrike" cap="none" dirty="0">
                  <a:solidFill>
                    <a:schemeClr val="lt1"/>
                  </a:solidFill>
                  <a:latin typeface="Teko Medium"/>
                  <a:ea typeface="Teko Medium"/>
                  <a:cs typeface="Teko Medium"/>
                  <a:sym typeface="Teko Medium"/>
                </a:rPr>
                <a:t>CREDIT CARD</a:t>
              </a:r>
              <a:r>
                <a:rPr lang="en-US" sz="10000" b="0" i="0" u="none" strike="noStrike" cap="none" dirty="0">
                  <a:solidFill>
                    <a:srgbClr val="FD9595"/>
                  </a:solidFill>
                  <a:latin typeface="Teko Medium"/>
                  <a:ea typeface="Teko Medium"/>
                  <a:cs typeface="Teko Medium"/>
                  <a:sym typeface="Teko Medium"/>
                </a:rPr>
                <a:t> FRAUD </a:t>
              </a:r>
              <a:r>
                <a:rPr lang="en-US" sz="10000" b="0" i="0" u="none" strike="noStrike" cap="none" dirty="0">
                  <a:solidFill>
                    <a:schemeClr val="lt1"/>
                  </a:solidFill>
                  <a:latin typeface="Teko Medium"/>
                  <a:ea typeface="Teko Medium"/>
                  <a:cs typeface="Teko Medium"/>
                  <a:sym typeface="Teko Medium"/>
                </a:rPr>
                <a:t>DETECTION</a:t>
              </a:r>
              <a:endParaRPr sz="10000" dirty="0"/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-1173901" y="-1098156"/>
            <a:ext cx="3452997" cy="3468475"/>
            <a:chOff x="1813" y="0"/>
            <a:chExt cx="809173" cy="812800"/>
          </a:xfrm>
        </p:grpSpPr>
        <p:sp>
          <p:nvSpPr>
            <p:cNvPr id="92" name="Google Shape;92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1B89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3"/>
          <p:cNvCxnSpPr/>
          <p:nvPr/>
        </p:nvCxnSpPr>
        <p:spPr>
          <a:xfrm>
            <a:off x="-2693521" y="4895777"/>
            <a:ext cx="6492240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13"/>
          <p:cNvCxnSpPr/>
          <p:nvPr/>
        </p:nvCxnSpPr>
        <p:spPr>
          <a:xfrm>
            <a:off x="14535836" y="4924352"/>
            <a:ext cx="6492240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6" name="Google Shape;96;p13"/>
          <p:cNvGrpSpPr/>
          <p:nvPr/>
        </p:nvGrpSpPr>
        <p:grpSpPr>
          <a:xfrm>
            <a:off x="8244455" y="8312294"/>
            <a:ext cx="395370" cy="397142"/>
            <a:chOff x="1813" y="0"/>
            <a:chExt cx="809173" cy="812800"/>
          </a:xfrm>
        </p:grpSpPr>
        <p:sp>
          <p:nvSpPr>
            <p:cNvPr id="97" name="Google Shape;97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3"/>
          <p:cNvSpPr txBox="1"/>
          <p:nvPr/>
        </p:nvSpPr>
        <p:spPr>
          <a:xfrm>
            <a:off x="1626022" y="3831538"/>
            <a:ext cx="10702801" cy="651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/>
                </a:solidFill>
                <a:latin typeface="Teko" panose="020B0604020202020204" charset="0"/>
                <a:ea typeface="ADLaM Display" panose="02010000000000000000" pitchFamily="2" charset="0"/>
                <a:cs typeface="Teko" panose="020B0604020202020204" charset="0"/>
              </a:rPr>
              <a:t>Submitted By</a:t>
            </a:r>
          </a:p>
          <a:p>
            <a:pPr>
              <a:lnSpc>
                <a:spcPct val="150000"/>
              </a:lnSpc>
            </a:pPr>
            <a:r>
              <a:rPr lang="en-IN" sz="5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eko" panose="020B0604020202020204" charset="0"/>
                <a:cs typeface="Teko" panose="020B0604020202020204" charset="0"/>
              </a:rPr>
              <a:t>Name: </a:t>
            </a:r>
            <a:r>
              <a:rPr lang="en-IN" sz="54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Sajal Samanta</a:t>
            </a:r>
          </a:p>
          <a:p>
            <a:pPr>
              <a:lnSpc>
                <a:spcPct val="150000"/>
              </a:lnSpc>
            </a:pPr>
            <a:r>
              <a:rPr lang="en-US" sz="5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eko" panose="020B0604020202020204" charset="0"/>
                <a:cs typeface="Teko" panose="020B0604020202020204" charset="0"/>
              </a:rPr>
              <a:t>Institution: </a:t>
            </a:r>
            <a:r>
              <a:rPr lang="en-US" sz="54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Techno India University</a:t>
            </a:r>
          </a:p>
          <a:p>
            <a:pPr>
              <a:lnSpc>
                <a:spcPct val="150000"/>
              </a:lnSpc>
            </a:pPr>
            <a:r>
              <a:rPr lang="en-US" sz="5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eko" panose="020B0604020202020204" charset="0"/>
                <a:cs typeface="Teko" panose="020B0604020202020204" charset="0"/>
              </a:rPr>
              <a:t>Instructor: </a:t>
            </a:r>
            <a:r>
              <a:rPr lang="en-US" sz="54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Naina Devi</a:t>
            </a:r>
          </a:p>
          <a:p>
            <a:pPr>
              <a:lnSpc>
                <a:spcPct val="150000"/>
              </a:lnSpc>
            </a:pPr>
            <a:r>
              <a:rPr lang="en-US" sz="5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eko" panose="020B0604020202020204" charset="0"/>
                <a:cs typeface="Teko" panose="020B0604020202020204" charset="0"/>
              </a:rPr>
              <a:t>Domain: </a:t>
            </a:r>
            <a:r>
              <a:rPr lang="en-US" sz="54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Machine Learning</a:t>
            </a:r>
          </a:p>
          <a:p>
            <a:pPr algn="ctr"/>
            <a:endParaRPr lang="en-US" dirty="0"/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0" name="Google Shape;100;p13"/>
          <p:cNvGrpSpPr/>
          <p:nvPr/>
        </p:nvGrpSpPr>
        <p:grpSpPr>
          <a:xfrm>
            <a:off x="8946315" y="8312294"/>
            <a:ext cx="395370" cy="397142"/>
            <a:chOff x="1813" y="0"/>
            <a:chExt cx="809173" cy="812800"/>
          </a:xfrm>
        </p:grpSpPr>
        <p:sp>
          <p:nvSpPr>
            <p:cNvPr id="101" name="Google Shape;101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3"/>
          <p:cNvGrpSpPr/>
          <p:nvPr/>
        </p:nvGrpSpPr>
        <p:grpSpPr>
          <a:xfrm>
            <a:off x="9648175" y="8312294"/>
            <a:ext cx="395370" cy="397142"/>
            <a:chOff x="1813" y="0"/>
            <a:chExt cx="809173" cy="812800"/>
          </a:xfrm>
        </p:grpSpPr>
        <p:sp>
          <p:nvSpPr>
            <p:cNvPr id="104" name="Google Shape;104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95;p19">
            <a:extLst>
              <a:ext uri="{FF2B5EF4-FFF2-40B4-BE49-F238E27FC236}">
                <a16:creationId xmlns:a16="http://schemas.microsoft.com/office/drawing/2014/main" id="{CAF4985D-D832-113D-A040-9DA7731301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4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p16">
            <a:extLst>
              <a:ext uri="{FF2B5EF4-FFF2-40B4-BE49-F238E27FC236}">
                <a16:creationId xmlns:a16="http://schemas.microsoft.com/office/drawing/2014/main" id="{F0D4B0EA-D332-04A6-43C0-883C43EB1CE2}"/>
              </a:ext>
            </a:extLst>
          </p:cNvPr>
          <p:cNvPicPr preferRelativeResize="0"/>
          <p:nvPr/>
        </p:nvPicPr>
        <p:blipFill rotWithShape="1">
          <a:blip r:embed="rId3">
            <a:alphaModFix amt="41000"/>
          </a:blip>
          <a:srcRect r="50000"/>
          <a:stretch/>
        </p:blipFill>
        <p:spPr>
          <a:xfrm flipH="1">
            <a:off x="8443452" y="-759685"/>
            <a:ext cx="11007113" cy="1482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D01B80-16B8-B7B7-5938-EB484118B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711" y="938413"/>
            <a:ext cx="8857328" cy="7571405"/>
          </a:xfrm>
          <a:prstGeom prst="rect">
            <a:avLst/>
          </a:prstGeom>
        </p:spPr>
      </p:pic>
      <p:sp>
        <p:nvSpPr>
          <p:cNvPr id="7" name="Google Shape;149;p15">
            <a:extLst>
              <a:ext uri="{FF2B5EF4-FFF2-40B4-BE49-F238E27FC236}">
                <a16:creationId xmlns:a16="http://schemas.microsoft.com/office/drawing/2014/main" id="{BBC9891E-FAFD-9966-DE1C-C631B58B806A}"/>
              </a:ext>
            </a:extLst>
          </p:cNvPr>
          <p:cNvSpPr txBox="1"/>
          <p:nvPr/>
        </p:nvSpPr>
        <p:spPr>
          <a:xfrm>
            <a:off x="413221" y="790138"/>
            <a:ext cx="11798444" cy="1384995"/>
          </a:xfrm>
          <a:prstGeom prst="rect">
            <a:avLst/>
          </a:prstGeom>
          <a:noFill/>
          <a:ln>
            <a:noFill/>
          </a:ln>
          <a:effectLst>
            <a:outerShdw blurRad="828675" dist="9525" dir="156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INTRODUCTION TO THE PROJECT</a:t>
            </a:r>
            <a:endParaRPr sz="9000" dirty="0"/>
          </a:p>
        </p:txBody>
      </p:sp>
      <p:sp>
        <p:nvSpPr>
          <p:cNvPr id="8" name="Google Shape;146;p15">
            <a:extLst>
              <a:ext uri="{FF2B5EF4-FFF2-40B4-BE49-F238E27FC236}">
                <a16:creationId xmlns:a16="http://schemas.microsoft.com/office/drawing/2014/main" id="{201E1C7E-114A-A9A1-9211-CEA1B775B7C9}"/>
              </a:ext>
            </a:extLst>
          </p:cNvPr>
          <p:cNvSpPr txBox="1"/>
          <p:nvPr/>
        </p:nvSpPr>
        <p:spPr>
          <a:xfrm>
            <a:off x="1043318" y="3471986"/>
            <a:ext cx="11168347" cy="63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9240E-98B6-09F5-6C0A-E853E5584884}"/>
              </a:ext>
            </a:extLst>
          </p:cNvPr>
          <p:cNvSpPr txBox="1"/>
          <p:nvPr/>
        </p:nvSpPr>
        <p:spPr>
          <a:xfrm>
            <a:off x="413221" y="2530053"/>
            <a:ext cx="13243785" cy="6478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Credit card fraud is one of the major financial crimes worldwide.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Fraud detection is challenging due to the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large volume of transactions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 and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imbalanced data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This project uses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Machine Learning algorithms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 to detect fraudulent transactions based on patterns in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Objective: To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minimize financial losses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 by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accurately predicting fraud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ko" panose="020B0604020202020204" charset="0"/>
                <a:cs typeface="Teko" panose="020B0604020202020204" charset="0"/>
              </a:rPr>
              <a:t>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57967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7"/>
          <p:cNvPicPr preferRelativeResize="0"/>
          <p:nvPr/>
        </p:nvPicPr>
        <p:blipFill>
          <a:blip r:embed="rId3"/>
          <a:srcRect l="14109" r="14109"/>
          <a:stretch/>
        </p:blipFill>
        <p:spPr>
          <a:xfrm>
            <a:off x="11744294" y="3158290"/>
            <a:ext cx="5029200" cy="6598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7"/>
          <p:cNvSpPr txBox="1"/>
          <p:nvPr/>
        </p:nvSpPr>
        <p:spPr>
          <a:xfrm>
            <a:off x="708660" y="380801"/>
            <a:ext cx="7730100" cy="1477328"/>
          </a:xfrm>
          <a:prstGeom prst="rect">
            <a:avLst/>
          </a:prstGeom>
          <a:noFill/>
          <a:ln>
            <a:noFill/>
          </a:ln>
          <a:effectLst>
            <a:outerShdw blurRad="828675" dist="19050" dir="90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OVERVIEW</a:t>
            </a:r>
            <a:endParaRPr sz="8000" dirty="0"/>
          </a:p>
        </p:txBody>
      </p:sp>
      <p:sp>
        <p:nvSpPr>
          <p:cNvPr id="360" name="Google Shape;360;p27"/>
          <p:cNvSpPr txBox="1"/>
          <p:nvPr/>
        </p:nvSpPr>
        <p:spPr>
          <a:xfrm>
            <a:off x="708660" y="7244049"/>
            <a:ext cx="5492628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60B3DD"/>
                </a:solidFill>
                <a:latin typeface="Teko" panose="020B0604020202020204" charset="0"/>
                <a:cs typeface="Teko" panose="020B0604020202020204" charset="0"/>
                <a:sym typeface="Montserrat"/>
              </a:rPr>
              <a:t>KEY IDEA</a:t>
            </a:r>
            <a:r>
              <a:rPr lang="en-US" sz="2400" b="1" dirty="0">
                <a:solidFill>
                  <a:srgbClr val="60B3DD"/>
                </a:solidFill>
                <a:latin typeface="Montserrat"/>
                <a:sym typeface="Montserrat"/>
              </a:rPr>
              <a:t>:</a:t>
            </a:r>
            <a:endParaRPr dirty="0"/>
          </a:p>
        </p:txBody>
      </p:sp>
      <p:sp>
        <p:nvSpPr>
          <p:cNvPr id="361" name="Google Shape;361;p27"/>
          <p:cNvSpPr txBox="1"/>
          <p:nvPr/>
        </p:nvSpPr>
        <p:spPr>
          <a:xfrm>
            <a:off x="488179" y="1876745"/>
            <a:ext cx="9116849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58"/>
              </a:lnSpc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Credit card fraud poses a serious threat to financial institutions and customers. Detecting 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fraudulent</a:t>
            </a: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 transactions in real-time is challenging due to highly imbalanced datasets and complex patterns.</a:t>
            </a: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362" name="Google Shape;362;p27"/>
          <p:cNvGrpSpPr/>
          <p:nvPr/>
        </p:nvGrpSpPr>
        <p:grpSpPr>
          <a:xfrm>
            <a:off x="9407343" y="380801"/>
            <a:ext cx="395370" cy="397142"/>
            <a:chOff x="1813" y="0"/>
            <a:chExt cx="809173" cy="812800"/>
          </a:xfrm>
        </p:grpSpPr>
        <p:sp>
          <p:nvSpPr>
            <p:cNvPr id="363" name="Google Shape;363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27"/>
          <p:cNvGrpSpPr/>
          <p:nvPr/>
        </p:nvGrpSpPr>
        <p:grpSpPr>
          <a:xfrm>
            <a:off x="10109203" y="380801"/>
            <a:ext cx="395370" cy="397142"/>
            <a:chOff x="1813" y="0"/>
            <a:chExt cx="809173" cy="812800"/>
          </a:xfrm>
        </p:grpSpPr>
        <p:sp>
          <p:nvSpPr>
            <p:cNvPr id="366" name="Google Shape;366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1B8D5"/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27"/>
          <p:cNvGrpSpPr/>
          <p:nvPr/>
        </p:nvGrpSpPr>
        <p:grpSpPr>
          <a:xfrm>
            <a:off x="10811063" y="380801"/>
            <a:ext cx="395370" cy="397142"/>
            <a:chOff x="1813" y="0"/>
            <a:chExt cx="809173" cy="812800"/>
          </a:xfrm>
        </p:grpSpPr>
        <p:sp>
          <p:nvSpPr>
            <p:cNvPr id="369" name="Google Shape;369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27"/>
          <p:cNvGrpSpPr/>
          <p:nvPr/>
        </p:nvGrpSpPr>
        <p:grpSpPr>
          <a:xfrm>
            <a:off x="16089807" y="9567947"/>
            <a:ext cx="395370" cy="397142"/>
            <a:chOff x="1813" y="0"/>
            <a:chExt cx="809173" cy="812800"/>
          </a:xfrm>
        </p:grpSpPr>
        <p:sp>
          <p:nvSpPr>
            <p:cNvPr id="372" name="Google Shape;372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27"/>
          <p:cNvGrpSpPr/>
          <p:nvPr/>
        </p:nvGrpSpPr>
        <p:grpSpPr>
          <a:xfrm>
            <a:off x="16791667" y="9567947"/>
            <a:ext cx="395370" cy="397142"/>
            <a:chOff x="1813" y="0"/>
            <a:chExt cx="809173" cy="812800"/>
          </a:xfrm>
        </p:grpSpPr>
        <p:sp>
          <p:nvSpPr>
            <p:cNvPr id="375" name="Google Shape;375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1B8D5"/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27"/>
          <p:cNvGrpSpPr/>
          <p:nvPr/>
        </p:nvGrpSpPr>
        <p:grpSpPr>
          <a:xfrm>
            <a:off x="17493527" y="9567947"/>
            <a:ext cx="395370" cy="397142"/>
            <a:chOff x="1813" y="0"/>
            <a:chExt cx="809173" cy="812800"/>
          </a:xfrm>
        </p:grpSpPr>
        <p:sp>
          <p:nvSpPr>
            <p:cNvPr id="378" name="Google Shape;378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1B8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361;p27">
            <a:extLst>
              <a:ext uri="{FF2B5EF4-FFF2-40B4-BE49-F238E27FC236}">
                <a16:creationId xmlns:a16="http://schemas.microsoft.com/office/drawing/2014/main" id="{DB6B2BAE-8DCD-5251-366E-900C346FCDCD}"/>
              </a:ext>
            </a:extLst>
          </p:cNvPr>
          <p:cNvSpPr txBox="1"/>
          <p:nvPr/>
        </p:nvSpPr>
        <p:spPr>
          <a:xfrm>
            <a:off x="732393" y="5692855"/>
            <a:ext cx="911684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58"/>
              </a:lnSpc>
            </a:pP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To apply feature engineering techniques that enhance the performance of machine learning models for fraud detection, improving both accuracy and interpretability.</a:t>
            </a:r>
            <a:r>
              <a:rPr lang="en-US" dirty="0">
                <a:latin typeface="Georgia" panose="02040502050405020303" pitchFamily="18" charset="0"/>
              </a:rPr>
              <a:t>.</a:t>
            </a:r>
            <a:endParaRPr lang="en-US" dirty="0"/>
          </a:p>
        </p:txBody>
      </p:sp>
      <p:sp>
        <p:nvSpPr>
          <p:cNvPr id="4" name="Google Shape;361;p27">
            <a:extLst>
              <a:ext uri="{FF2B5EF4-FFF2-40B4-BE49-F238E27FC236}">
                <a16:creationId xmlns:a16="http://schemas.microsoft.com/office/drawing/2014/main" id="{81A58A27-950E-EBC5-75A6-2DD0B8159B92}"/>
              </a:ext>
            </a:extLst>
          </p:cNvPr>
          <p:cNvSpPr txBox="1"/>
          <p:nvPr/>
        </p:nvSpPr>
        <p:spPr>
          <a:xfrm>
            <a:off x="649518" y="8117814"/>
            <a:ext cx="9855055" cy="159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58"/>
              </a:lnSpc>
            </a:pP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Transform raw transaction data into meaningful, informative features that enable ML algorithms to better distinguish between </a:t>
            </a:r>
            <a:r>
              <a:rPr lang="en-US" sz="2000" b="1" dirty="0">
                <a:solidFill>
                  <a:srgbClr val="FF0000"/>
                </a:solidFill>
                <a:latin typeface="Montserrat" panose="00000500000000000000" pitchFamily="2" charset="0"/>
              </a:rPr>
              <a:t>fraudulent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 and </a:t>
            </a:r>
            <a:r>
              <a:rPr lang="en-US" sz="2000" b="1" dirty="0">
                <a:solidFill>
                  <a:srgbClr val="00B050"/>
                </a:solidFill>
                <a:latin typeface="Montserrat" panose="00000500000000000000" pitchFamily="2" charset="0"/>
              </a:rPr>
              <a:t>genuine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 transactions.</a:t>
            </a:r>
          </a:p>
          <a:p>
            <a:pPr>
              <a:lnSpc>
                <a:spcPct val="139958"/>
              </a:lnSpc>
            </a:pPr>
            <a:endParaRPr lang="en-US" dirty="0"/>
          </a:p>
        </p:txBody>
      </p:sp>
      <p:sp>
        <p:nvSpPr>
          <p:cNvPr id="5" name="Google Shape;360;p27">
            <a:extLst>
              <a:ext uri="{FF2B5EF4-FFF2-40B4-BE49-F238E27FC236}">
                <a16:creationId xmlns:a16="http://schemas.microsoft.com/office/drawing/2014/main" id="{E5B1F61F-888C-11C8-5BFD-C6E82F1D8009}"/>
              </a:ext>
            </a:extLst>
          </p:cNvPr>
          <p:cNvSpPr txBox="1"/>
          <p:nvPr/>
        </p:nvSpPr>
        <p:spPr>
          <a:xfrm>
            <a:off x="845820" y="4345114"/>
            <a:ext cx="549262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60B3DD"/>
                </a:solidFill>
                <a:latin typeface="Teko" panose="020B0604020202020204" charset="0"/>
                <a:cs typeface="Teko" panose="020B0604020202020204" charset="0"/>
                <a:sym typeface="Montserrat"/>
              </a:rPr>
              <a:t>OBJECTIVES:</a:t>
            </a:r>
            <a:endParaRPr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-5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24"/>
          <p:cNvGrpSpPr/>
          <p:nvPr/>
        </p:nvGrpSpPr>
        <p:grpSpPr>
          <a:xfrm>
            <a:off x="3488787" y="141345"/>
            <a:ext cx="2553389" cy="2725149"/>
            <a:chOff x="0" y="-38100"/>
            <a:chExt cx="812800" cy="850900"/>
          </a:xfrm>
        </p:grpSpPr>
        <p:sp>
          <p:nvSpPr>
            <p:cNvPr id="280" name="Google Shape;280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60B3DD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81" name="Google Shape;281;p2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24"/>
          <p:cNvGrpSpPr/>
          <p:nvPr/>
        </p:nvGrpSpPr>
        <p:grpSpPr>
          <a:xfrm>
            <a:off x="482861" y="141345"/>
            <a:ext cx="2351779" cy="2725149"/>
            <a:chOff x="0" y="-38100"/>
            <a:chExt cx="812800" cy="850900"/>
          </a:xfrm>
        </p:grpSpPr>
        <p:sp>
          <p:nvSpPr>
            <p:cNvPr id="283" name="Google Shape;283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60B3DD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84" name="Google Shape;284;p2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1" name="Google Shape;291;p24"/>
          <p:cNvPicPr preferRelativeResize="0"/>
          <p:nvPr/>
        </p:nvPicPr>
        <p:blipFill>
          <a:blip r:embed="rId4"/>
          <a:srcRect t="4900" b="4900"/>
          <a:stretch/>
        </p:blipFill>
        <p:spPr>
          <a:xfrm>
            <a:off x="793907" y="475332"/>
            <a:ext cx="1812134" cy="217359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7751824" y="580589"/>
            <a:ext cx="9578100" cy="1846659"/>
          </a:xfrm>
          <a:prstGeom prst="rect">
            <a:avLst/>
          </a:prstGeom>
          <a:noFill/>
          <a:ln>
            <a:noFill/>
          </a:ln>
          <a:effectLst>
            <a:outerShdw blurRad="828675" dist="19050" dir="84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TECHNOLOGY STACK</a:t>
            </a:r>
            <a:endParaRPr dirty="0"/>
          </a:p>
        </p:txBody>
      </p:sp>
      <p:sp>
        <p:nvSpPr>
          <p:cNvPr id="293" name="Google Shape;293;p24"/>
          <p:cNvSpPr txBox="1"/>
          <p:nvPr/>
        </p:nvSpPr>
        <p:spPr>
          <a:xfrm>
            <a:off x="7188866" y="2531098"/>
            <a:ext cx="9011254" cy="734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Pandas, NumPy – </a:t>
            </a:r>
            <a:r>
              <a:rPr lang="en-US" altLang="en-US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Data manipulation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Scikit-learn – </a:t>
            </a:r>
            <a:r>
              <a:rPr lang="en-US" altLang="en-US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Feature selection &amp; model building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Matplotlib, Seaborn – </a:t>
            </a:r>
            <a:r>
              <a:rPr lang="en-US" altLang="en-US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Data visualization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Python 3.10+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Random Forest, Logistic Regression, </a:t>
            </a:r>
            <a:r>
              <a:rPr lang="en-US" altLang="en-US" sz="3200" dirty="0" err="1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XGBoost</a:t>
            </a: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– </a:t>
            </a:r>
            <a:r>
              <a:rPr lang="en-US" altLang="en-US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ML algorithms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Imbalanced-learn (SMOTE) – </a:t>
            </a:r>
            <a:r>
              <a:rPr lang="en-US" altLang="en-US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Handling class imbalance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</a:t>
            </a:r>
            <a:r>
              <a:rPr lang="en-US" altLang="en-US" sz="3200" dirty="0" err="1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Jupyter</a:t>
            </a:r>
            <a:r>
              <a:rPr lang="en-US" altLang="en-US" sz="32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 Notebook</a:t>
            </a: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60B3DD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dirty="0"/>
          </a:p>
        </p:txBody>
      </p:sp>
      <p:pic>
        <p:nvPicPr>
          <p:cNvPr id="306" name="Google Shape;306;p24"/>
          <p:cNvPicPr preferRelativeResize="0"/>
          <p:nvPr/>
        </p:nvPicPr>
        <p:blipFill>
          <a:blip r:embed="rId5"/>
          <a:srcRect t="474" b="474"/>
          <a:stretch/>
        </p:blipFill>
        <p:spPr>
          <a:xfrm>
            <a:off x="3690397" y="475332"/>
            <a:ext cx="2129119" cy="2204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/>
          <p:cNvPicPr preferRelativeResize="0"/>
          <p:nvPr/>
        </p:nvPicPr>
        <p:blipFill>
          <a:blip r:embed="rId6"/>
          <a:srcRect t="474" b="474"/>
          <a:stretch/>
        </p:blipFill>
        <p:spPr>
          <a:xfrm>
            <a:off x="860975" y="3835725"/>
            <a:ext cx="1745066" cy="2000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/>
          <p:cNvPicPr preferRelativeResize="0"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7055" r="27055"/>
          <a:stretch/>
        </p:blipFill>
        <p:spPr>
          <a:xfrm>
            <a:off x="3690397" y="3647670"/>
            <a:ext cx="2351779" cy="24103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4"/>
          <p:cNvGrpSpPr/>
          <p:nvPr/>
        </p:nvGrpSpPr>
        <p:grpSpPr>
          <a:xfrm>
            <a:off x="14856947" y="7332745"/>
            <a:ext cx="6862097" cy="6892855"/>
            <a:chOff x="1813" y="0"/>
            <a:chExt cx="809173" cy="812800"/>
          </a:xfrm>
        </p:grpSpPr>
        <p:sp>
          <p:nvSpPr>
            <p:cNvPr id="310" name="Google Shape;310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0B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oogle Shape;282;p24">
            <a:extLst>
              <a:ext uri="{FF2B5EF4-FFF2-40B4-BE49-F238E27FC236}">
                <a16:creationId xmlns:a16="http://schemas.microsoft.com/office/drawing/2014/main" id="{F6395F9E-DBA4-C98B-9B16-9AF61600D0D5}"/>
              </a:ext>
            </a:extLst>
          </p:cNvPr>
          <p:cNvGrpSpPr/>
          <p:nvPr/>
        </p:nvGrpSpPr>
        <p:grpSpPr>
          <a:xfrm>
            <a:off x="506388" y="6862186"/>
            <a:ext cx="2376958" cy="2638008"/>
            <a:chOff x="0" y="-38100"/>
            <a:chExt cx="812800" cy="850900"/>
          </a:xfrm>
        </p:grpSpPr>
        <p:sp>
          <p:nvSpPr>
            <p:cNvPr id="3" name="Google Shape;283;p24">
              <a:extLst>
                <a:ext uri="{FF2B5EF4-FFF2-40B4-BE49-F238E27FC236}">
                  <a16:creationId xmlns:a16="http://schemas.microsoft.com/office/drawing/2014/main" id="{9A1F6522-F4B3-D14E-93C9-8B9ECA2A9B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60B3DD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" name="Google Shape;284;p24">
              <a:extLst>
                <a:ext uri="{FF2B5EF4-FFF2-40B4-BE49-F238E27FC236}">
                  <a16:creationId xmlns:a16="http://schemas.microsoft.com/office/drawing/2014/main" id="{22CFC0D5-5213-A9F5-8134-8B3AC8863603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282;p24">
            <a:extLst>
              <a:ext uri="{FF2B5EF4-FFF2-40B4-BE49-F238E27FC236}">
                <a16:creationId xmlns:a16="http://schemas.microsoft.com/office/drawing/2014/main" id="{C0531320-E5F3-853D-1703-C929391E4EC8}"/>
              </a:ext>
            </a:extLst>
          </p:cNvPr>
          <p:cNvGrpSpPr/>
          <p:nvPr/>
        </p:nvGrpSpPr>
        <p:grpSpPr>
          <a:xfrm>
            <a:off x="3546035" y="6839174"/>
            <a:ext cx="2496141" cy="2725149"/>
            <a:chOff x="0" y="-38100"/>
            <a:chExt cx="812800" cy="850900"/>
          </a:xfrm>
        </p:grpSpPr>
        <p:sp>
          <p:nvSpPr>
            <p:cNvPr id="6" name="Google Shape;283;p24">
              <a:extLst>
                <a:ext uri="{FF2B5EF4-FFF2-40B4-BE49-F238E27FC236}">
                  <a16:creationId xmlns:a16="http://schemas.microsoft.com/office/drawing/2014/main" id="{16C442BA-A7FB-5E1E-E93E-17A78FE000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60B3DD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" name="Google Shape;284;p24">
              <a:extLst>
                <a:ext uri="{FF2B5EF4-FFF2-40B4-BE49-F238E27FC236}">
                  <a16:creationId xmlns:a16="http://schemas.microsoft.com/office/drawing/2014/main" id="{8C912FD1-5677-BE23-E44A-DF6465876997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282;p24">
            <a:extLst>
              <a:ext uri="{FF2B5EF4-FFF2-40B4-BE49-F238E27FC236}">
                <a16:creationId xmlns:a16="http://schemas.microsoft.com/office/drawing/2014/main" id="{AB20CA2F-333E-B3A5-3435-B0A02621CDE5}"/>
              </a:ext>
            </a:extLst>
          </p:cNvPr>
          <p:cNvGrpSpPr/>
          <p:nvPr/>
        </p:nvGrpSpPr>
        <p:grpSpPr>
          <a:xfrm>
            <a:off x="3618556" y="3623054"/>
            <a:ext cx="9062580" cy="4430427"/>
            <a:chOff x="-193224" y="-3248"/>
            <a:chExt cx="2630329" cy="1383356"/>
          </a:xfrm>
        </p:grpSpPr>
        <p:sp>
          <p:nvSpPr>
            <p:cNvPr id="9" name="Google Shape;283;p24">
              <a:extLst>
                <a:ext uri="{FF2B5EF4-FFF2-40B4-BE49-F238E27FC236}">
                  <a16:creationId xmlns:a16="http://schemas.microsoft.com/office/drawing/2014/main" id="{F9180F8A-05A1-983C-D82E-BDCF8C017F90}"/>
                </a:ext>
              </a:extLst>
            </p:cNvPr>
            <p:cNvSpPr/>
            <p:nvPr/>
          </p:nvSpPr>
          <p:spPr>
            <a:xfrm>
              <a:off x="-193224" y="-3248"/>
              <a:ext cx="697401" cy="779621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60B3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Google Shape;284;p24">
              <a:extLst>
                <a:ext uri="{FF2B5EF4-FFF2-40B4-BE49-F238E27FC236}">
                  <a16:creationId xmlns:a16="http://schemas.microsoft.com/office/drawing/2014/main" id="{5F479B3D-CBDD-282A-75F4-93E629AD139A}"/>
                </a:ext>
              </a:extLst>
            </p:cNvPr>
            <p:cNvSpPr txBox="1"/>
            <p:nvPr/>
          </p:nvSpPr>
          <p:spPr>
            <a:xfrm>
              <a:off x="1624305" y="529208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285;p24"/>
          <p:cNvGrpSpPr/>
          <p:nvPr/>
        </p:nvGrpSpPr>
        <p:grpSpPr>
          <a:xfrm>
            <a:off x="531567" y="3424815"/>
            <a:ext cx="2351779" cy="2638008"/>
            <a:chOff x="0" y="-38100"/>
            <a:chExt cx="812800" cy="850900"/>
          </a:xfrm>
        </p:grpSpPr>
        <p:sp>
          <p:nvSpPr>
            <p:cNvPr id="12" name="Google Shape;286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60B3DD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" name="Google Shape;287;p2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" name="Google Shape;291;p24">
            <a:extLst>
              <a:ext uri="{FF2B5EF4-FFF2-40B4-BE49-F238E27FC236}">
                <a16:creationId xmlns:a16="http://schemas.microsoft.com/office/drawing/2014/main" id="{4C958CA2-673A-6941-C592-EC325481C932}"/>
              </a:ext>
            </a:extLst>
          </p:cNvPr>
          <p:cNvPicPr preferRelativeResize="0"/>
          <p:nvPr/>
        </p:nvPicPr>
        <p:blipFill>
          <a:blip r:embed="rId9"/>
          <a:srcRect t="971" b="971"/>
          <a:stretch/>
        </p:blipFill>
        <p:spPr>
          <a:xfrm>
            <a:off x="785818" y="7198971"/>
            <a:ext cx="1820224" cy="217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91;p24">
            <a:extLst>
              <a:ext uri="{FF2B5EF4-FFF2-40B4-BE49-F238E27FC236}">
                <a16:creationId xmlns:a16="http://schemas.microsoft.com/office/drawing/2014/main" id="{FEE45C69-40F5-504D-91CB-E53811E316C8}"/>
              </a:ext>
            </a:extLst>
          </p:cNvPr>
          <p:cNvPicPr preferRelativeResize="0"/>
          <p:nvPr/>
        </p:nvPicPr>
        <p:blipFill>
          <a:blip r:embed="rId10"/>
          <a:srcRect t="971" b="971"/>
          <a:stretch/>
        </p:blipFill>
        <p:spPr>
          <a:xfrm>
            <a:off x="3840973" y="7175960"/>
            <a:ext cx="1906264" cy="217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/>
          <p:cNvPicPr preferRelativeResize="0"/>
          <p:nvPr/>
        </p:nvPicPr>
        <p:blipFill rotWithShape="1">
          <a:blip r:embed="rId3">
            <a:alphaModFix/>
          </a:blip>
          <a:srcRect l="74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1028700" y="243069"/>
            <a:ext cx="8221980" cy="1846659"/>
          </a:xfrm>
          <a:prstGeom prst="rect">
            <a:avLst/>
          </a:prstGeom>
          <a:noFill/>
          <a:ln>
            <a:noFill/>
          </a:ln>
          <a:effectLst>
            <a:outerShdw blurRad="828675" dist="19050" dir="90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WORKFLOW</a:t>
            </a:r>
            <a:endParaRPr sz="10000" dirty="0"/>
          </a:p>
        </p:txBody>
      </p:sp>
      <p:pic>
        <p:nvPicPr>
          <p:cNvPr id="198" name="Google Shape;198;p19"/>
          <p:cNvPicPr preferRelativeResize="0"/>
          <p:nvPr/>
        </p:nvPicPr>
        <p:blipFill>
          <a:blip r:embed="rId4"/>
          <a:srcRect l="4954" r="4954"/>
          <a:stretch/>
        </p:blipFill>
        <p:spPr>
          <a:xfrm>
            <a:off x="9435625" y="3887458"/>
            <a:ext cx="8508046" cy="4860510"/>
          </a:xfrm>
          <a:prstGeom prst="rect">
            <a:avLst/>
          </a:prstGeom>
          <a:blipFill dpi="0" rotWithShape="1">
            <a:blip r:embed="rId5">
              <a:alphaModFix amt="0"/>
            </a:blip>
            <a:srcRect/>
            <a:tile tx="0" ty="0" sx="100000" sy="100000" flip="none" algn="tl"/>
          </a:blipFill>
          <a:ln>
            <a:noFill/>
          </a:ln>
          <a:effectLst>
            <a:outerShdw blurRad="50800" dist="50800" dir="14340000" sx="1000" sy="1000" algn="ctr" rotWithShape="0">
              <a:srgbClr val="000000">
                <a:alpha val="0"/>
              </a:srgbClr>
            </a:outerShdw>
          </a:effectLst>
        </p:spPr>
      </p:pic>
      <p:sp>
        <p:nvSpPr>
          <p:cNvPr id="199" name="Google Shape;199;p19"/>
          <p:cNvSpPr txBox="1"/>
          <p:nvPr/>
        </p:nvSpPr>
        <p:spPr>
          <a:xfrm>
            <a:off x="983015" y="7498526"/>
            <a:ext cx="622554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IN" sz="4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eko Medium" panose="020B0604020202020204" charset="0"/>
                <a:cs typeface="Teko Medium" panose="020B0604020202020204" charset="0"/>
              </a:rPr>
              <a:t>Balancing Dataset: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19"/>
          <p:cNvSpPr txBox="1"/>
          <p:nvPr/>
        </p:nvSpPr>
        <p:spPr>
          <a:xfrm>
            <a:off x="1028700" y="1879012"/>
            <a:ext cx="4584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marR="0" lvl="0" indent="-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eko Medium"/>
                <a:cs typeface="Teko Medium"/>
                <a:sym typeface="Teko Medium"/>
              </a:rPr>
              <a:t>DATA PROCESSIN-</a:t>
            </a:r>
            <a:endParaRPr sz="4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1605721" y="2808554"/>
            <a:ext cx="9867901" cy="125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Missing value handling</a:t>
            </a:r>
          </a:p>
          <a:p>
            <a:pPr lvl="1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Data normalization/scaling</a:t>
            </a: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1605721" y="4590869"/>
            <a:ext cx="7692707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6"/>
              </a:lnSpc>
            </a:pPr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Fraud vs. Non-Fraud pattern visualization.</a:t>
            </a: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3" name="Google Shape;203;p19"/>
          <p:cNvCxnSpPr>
            <a:cxnSpLocks/>
          </p:cNvCxnSpPr>
          <p:nvPr/>
        </p:nvCxnSpPr>
        <p:spPr>
          <a:xfrm>
            <a:off x="1181170" y="2586999"/>
            <a:ext cx="3958520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19"/>
          <p:cNvCxnSpPr>
            <a:cxnSpLocks/>
          </p:cNvCxnSpPr>
          <p:nvPr/>
        </p:nvCxnSpPr>
        <p:spPr>
          <a:xfrm>
            <a:off x="1181171" y="4444497"/>
            <a:ext cx="7718989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00;p19">
            <a:extLst>
              <a:ext uri="{FF2B5EF4-FFF2-40B4-BE49-F238E27FC236}">
                <a16:creationId xmlns:a16="http://schemas.microsoft.com/office/drawing/2014/main" id="{6C960A5C-189A-07AE-AFB4-1FA549AFF11F}"/>
              </a:ext>
            </a:extLst>
          </p:cNvPr>
          <p:cNvSpPr txBox="1"/>
          <p:nvPr/>
        </p:nvSpPr>
        <p:spPr>
          <a:xfrm>
            <a:off x="1076447" y="3333009"/>
            <a:ext cx="8846750" cy="107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marR="0" lvl="0" indent="-685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dirty="0"/>
          </a:p>
          <a:p>
            <a:pPr marL="685800" indent="-6858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bg1"/>
                </a:solidFill>
                <a:latin typeface="Teko Medium" panose="020B0604020202020204" charset="0"/>
                <a:cs typeface="Teko Medium" panose="020B0604020202020204" charset="0"/>
                <a:sym typeface="Teko Medium"/>
              </a:rPr>
              <a:t> </a:t>
            </a:r>
            <a:r>
              <a:rPr lang="en-IN" sz="4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eko Medium" panose="020B0604020202020204" charset="0"/>
                <a:cs typeface="Teko Medium" panose="020B0604020202020204" charset="0"/>
              </a:rPr>
              <a:t>Exploratory Data Analysis (EDA):</a:t>
            </a:r>
            <a:endParaRPr lang="en-IN" sz="4000" dirty="0">
              <a:solidFill>
                <a:schemeClr val="accent6">
                  <a:lumMod val="40000"/>
                  <a:lumOff val="60000"/>
                </a:schemeClr>
              </a:solidFill>
              <a:latin typeface="Teko Medium" panose="020B0604020202020204" charset="0"/>
              <a:cs typeface="Teko Medium" panose="020B0604020202020204" charset="0"/>
            </a:endParaRPr>
          </a:p>
        </p:txBody>
      </p:sp>
      <p:sp>
        <p:nvSpPr>
          <p:cNvPr id="6" name="Google Shape;200;p19">
            <a:extLst>
              <a:ext uri="{FF2B5EF4-FFF2-40B4-BE49-F238E27FC236}">
                <a16:creationId xmlns:a16="http://schemas.microsoft.com/office/drawing/2014/main" id="{B62995AF-64EE-D2A6-92DE-F60A455B556F}"/>
              </a:ext>
            </a:extLst>
          </p:cNvPr>
          <p:cNvSpPr txBox="1"/>
          <p:nvPr/>
        </p:nvSpPr>
        <p:spPr>
          <a:xfrm>
            <a:off x="1028700" y="5205245"/>
            <a:ext cx="88467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indent="-6858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chemeClr val="bg1"/>
                </a:solidFill>
                <a:latin typeface="Teko Medium" panose="020B0604020202020204" charset="0"/>
                <a:cs typeface="Teko Medium" panose="020B0604020202020204" charset="0"/>
                <a:sym typeface="Teko Medium"/>
              </a:rPr>
              <a:t> </a:t>
            </a:r>
            <a:r>
              <a:rPr lang="en-IN" sz="4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eko Medium" panose="020B0604020202020204" charset="0"/>
                <a:cs typeface="Teko Medium" panose="020B0604020202020204" charset="0"/>
              </a:rPr>
              <a:t>Feature Engineering:</a:t>
            </a:r>
            <a:r>
              <a:rPr lang="en-US" dirty="0"/>
              <a:t>:</a:t>
            </a:r>
            <a:endParaRPr dirty="0"/>
          </a:p>
        </p:txBody>
      </p:sp>
      <p:cxnSp>
        <p:nvCxnSpPr>
          <p:cNvPr id="10" name="Google Shape;204;p19">
            <a:extLst>
              <a:ext uri="{FF2B5EF4-FFF2-40B4-BE49-F238E27FC236}">
                <a16:creationId xmlns:a16="http://schemas.microsoft.com/office/drawing/2014/main" id="{A9EC9711-3868-202B-6C64-DE122BC1480A}"/>
              </a:ext>
            </a:extLst>
          </p:cNvPr>
          <p:cNvCxnSpPr>
            <a:cxnSpLocks/>
          </p:cNvCxnSpPr>
          <p:nvPr/>
        </p:nvCxnSpPr>
        <p:spPr>
          <a:xfrm>
            <a:off x="1280195" y="6001143"/>
            <a:ext cx="5013925" cy="16632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204;p19">
            <a:extLst>
              <a:ext uri="{FF2B5EF4-FFF2-40B4-BE49-F238E27FC236}">
                <a16:creationId xmlns:a16="http://schemas.microsoft.com/office/drawing/2014/main" id="{EF636BBE-BA63-61EE-F30F-AB55B02B8135}"/>
              </a:ext>
            </a:extLst>
          </p:cNvPr>
          <p:cNvCxnSpPr>
            <a:cxnSpLocks/>
          </p:cNvCxnSpPr>
          <p:nvPr/>
        </p:nvCxnSpPr>
        <p:spPr>
          <a:xfrm>
            <a:off x="1474117" y="8207278"/>
            <a:ext cx="4465285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201;p19">
            <a:extLst>
              <a:ext uri="{FF2B5EF4-FFF2-40B4-BE49-F238E27FC236}">
                <a16:creationId xmlns:a16="http://schemas.microsoft.com/office/drawing/2014/main" id="{D745C69E-9F01-3517-6DBA-AE1D27C824F4}"/>
              </a:ext>
            </a:extLst>
          </p:cNvPr>
          <p:cNvSpPr txBox="1"/>
          <p:nvPr/>
        </p:nvSpPr>
        <p:spPr>
          <a:xfrm>
            <a:off x="1605721" y="6237466"/>
            <a:ext cx="8846750" cy="1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Derived features: </a:t>
            </a:r>
            <a:r>
              <a:rPr lang="en-IN" sz="2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TransactionAmount_log</a:t>
            </a:r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, </a:t>
            </a:r>
            <a:r>
              <a:rPr lang="en-IN" sz="2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Time_Sin</a:t>
            </a:r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/Cos, </a:t>
            </a:r>
            <a:r>
              <a:rPr lang="en-IN" sz="2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TransactionFrequency</a:t>
            </a:r>
            <a:endParaRPr lang="en-IN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1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Correlation-based feature selection.</a:t>
            </a:r>
          </a:p>
          <a:p>
            <a:pPr lvl="1"/>
            <a:endParaRPr lang="en-IN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D05DF1-1055-CE62-5CE6-9D1BF9CB0C4C}"/>
              </a:ext>
            </a:extLst>
          </p:cNvPr>
          <p:cNvSpPr txBox="1"/>
          <p:nvPr/>
        </p:nvSpPr>
        <p:spPr>
          <a:xfrm>
            <a:off x="1453356" y="8428803"/>
            <a:ext cx="947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Used SMOTE to handle class imbalance.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ED002-E848-94D9-81DF-5FCA4DACAC22}"/>
              </a:ext>
            </a:extLst>
          </p:cNvPr>
          <p:cNvSpPr txBox="1"/>
          <p:nvPr/>
        </p:nvSpPr>
        <p:spPr>
          <a:xfrm>
            <a:off x="873185" y="9087605"/>
            <a:ext cx="9479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eko Medium" panose="020B0604020202020204" charset="0"/>
                <a:cs typeface="Teko Medium" panose="020B0604020202020204" charset="0"/>
              </a:rPr>
              <a:t>Model Training</a:t>
            </a:r>
          </a:p>
          <a:p>
            <a:pPr lvl="1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Random Forest &amp; Logistic Regression.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/>
          <p:cNvPicPr preferRelativeResize="0"/>
          <p:nvPr/>
        </p:nvPicPr>
        <p:blipFill rotWithShape="1">
          <a:blip r:embed="rId3">
            <a:alphaModFix/>
          </a:blip>
          <a:srcRect l="12478" t="26153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 rotWithShape="1">
          <a:blip r:embed="rId4">
            <a:alphaModFix amt="41000"/>
          </a:blip>
          <a:srcRect r="50000"/>
          <a:stretch/>
        </p:blipFill>
        <p:spPr>
          <a:xfrm flipH="1">
            <a:off x="7978877" y="-759685"/>
            <a:ext cx="11471688" cy="14825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9144000" y="414913"/>
            <a:ext cx="7017000" cy="2316900"/>
          </a:xfrm>
          <a:prstGeom prst="rect">
            <a:avLst/>
          </a:prstGeom>
          <a:noFill/>
          <a:ln>
            <a:noFill/>
          </a:ln>
          <a:effectLst>
            <a:outerShdw blurRad="828675" dist="19050" dir="48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52" b="0" i="0" u="none" strike="noStrike" cap="none" dirty="0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ABOUT US</a:t>
            </a:r>
            <a:endParaRPr dirty="0"/>
          </a:p>
        </p:txBody>
      </p:sp>
      <p:cxnSp>
        <p:nvCxnSpPr>
          <p:cNvPr id="158" name="Google Shape;158;p16"/>
          <p:cNvCxnSpPr/>
          <p:nvPr/>
        </p:nvCxnSpPr>
        <p:spPr>
          <a:xfrm rot="-9591">
            <a:off x="-20" y="4769821"/>
            <a:ext cx="10242251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16"/>
          <p:cNvSpPr txBox="1"/>
          <p:nvPr/>
        </p:nvSpPr>
        <p:spPr>
          <a:xfrm>
            <a:off x="9406913" y="5919488"/>
            <a:ext cx="7852387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Elaborate on what you want to discuss.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9BA43-E832-EDC7-64A7-372D9782CE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1689">
            <a:off x="507709" y="1208415"/>
            <a:ext cx="5606669" cy="4086864"/>
          </a:xfrm>
          <a:prstGeom prst="rect">
            <a:avLst/>
          </a:prstGeom>
          <a:ln>
            <a:noFill/>
          </a:ln>
          <a:effectLst>
            <a:outerShdw blurRad="292100" dist="381000" dir="16200000" sx="97000" sy="97000" rotWithShape="0">
              <a:prstClr val="black">
                <a:alpha val="93000"/>
              </a:prstClr>
            </a:outerShdw>
            <a:reflection blurRad="6350" stA="50000" endA="300" endPos="55000" dir="5400000" sy="-100000" algn="bl" rotWithShape="0"/>
          </a:effectLst>
        </p:spPr>
      </p:pic>
      <p:pic>
        <p:nvPicPr>
          <p:cNvPr id="5" name="Google Shape;770;p42">
            <a:extLst>
              <a:ext uri="{FF2B5EF4-FFF2-40B4-BE49-F238E27FC236}">
                <a16:creationId xmlns:a16="http://schemas.microsoft.com/office/drawing/2014/main" id="{44D594F5-EC3C-32F9-35E6-C54E599773E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7825" b="7824"/>
          <a:stretch/>
        </p:blipFill>
        <p:spPr>
          <a:xfrm>
            <a:off x="34596" y="0"/>
            <a:ext cx="18288000" cy="1028700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Google Shape;292;p24">
            <a:extLst>
              <a:ext uri="{FF2B5EF4-FFF2-40B4-BE49-F238E27FC236}">
                <a16:creationId xmlns:a16="http://schemas.microsoft.com/office/drawing/2014/main" id="{7AB37789-E474-34F3-F075-7C925A61D0B4}"/>
              </a:ext>
            </a:extLst>
          </p:cNvPr>
          <p:cNvSpPr txBox="1"/>
          <p:nvPr/>
        </p:nvSpPr>
        <p:spPr>
          <a:xfrm>
            <a:off x="4441172" y="269794"/>
            <a:ext cx="10996947" cy="1384995"/>
          </a:xfrm>
          <a:prstGeom prst="rect">
            <a:avLst/>
          </a:prstGeom>
          <a:noFill/>
          <a:ln>
            <a:noFill/>
          </a:ln>
          <a:effectLst>
            <a:outerShdw blurRad="828675" dist="19050" dir="84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00B0F0"/>
                </a:solidFill>
                <a:latin typeface="Teko Medium"/>
                <a:cs typeface="Teko Medium"/>
                <a:sym typeface="Teko Medium"/>
              </a:rPr>
              <a:t>PROJECT WORKING</a:t>
            </a:r>
            <a:endParaRPr sz="9000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7BFF3-30C2-8B44-A5FB-FA48CB0EA214}"/>
              </a:ext>
            </a:extLst>
          </p:cNvPr>
          <p:cNvSpPr txBox="1"/>
          <p:nvPr/>
        </p:nvSpPr>
        <p:spPr>
          <a:xfrm>
            <a:off x="171915" y="1895441"/>
            <a:ext cx="98983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Watch my project demo here : </a:t>
            </a:r>
            <a:r>
              <a:rPr lang="en-US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 </a:t>
            </a:r>
            <a:endParaRPr lang="en-US" sz="32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View live this project: </a:t>
            </a:r>
            <a:r>
              <a:rPr lang="en-US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 the web app</a:t>
            </a:r>
            <a:endParaRPr lang="en-US" sz="32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Source code:  </a:t>
            </a:r>
            <a:r>
              <a:rPr lang="en-US" sz="3200" b="1" dirty="0">
                <a:solidFill>
                  <a:srgbClr val="0000FF"/>
                </a:solidFill>
                <a:latin typeface="Teko" panose="020B0604020202020204" charset="0"/>
                <a:cs typeface="Teko" panose="020B060402020202020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source code on </a:t>
            </a:r>
            <a:r>
              <a:rPr lang="en-US" sz="3200" b="1" dirty="0" err="1">
                <a:solidFill>
                  <a:srgbClr val="0000FF"/>
                </a:solidFill>
                <a:latin typeface="Teko" panose="020B0604020202020204" charset="0"/>
                <a:cs typeface="Teko" panose="020B060402020202020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32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B67D45-950D-DB47-2EC4-F6A871776E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146" y="4556551"/>
            <a:ext cx="8378213" cy="4971310"/>
          </a:xfrm>
          <a:prstGeom prst="rect">
            <a:avLst/>
          </a:prstGeom>
          <a:blipFill>
            <a:blip r:embed="rId11">
              <a:alphaModFix amt="0"/>
            </a:blip>
            <a:tile tx="0" ty="0" sx="100000" sy="100000" flip="none" algn="tl"/>
          </a:blip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39700">
              <a:srgbClr val="00B0F0">
                <a:alpha val="40000"/>
              </a:srgbClr>
            </a:glo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1E2598-25EF-3CEE-9720-3E7C3AB311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1160" y="4562919"/>
            <a:ext cx="8798694" cy="497131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 rot="-5400000">
            <a:off x="-2063161" y="4312469"/>
            <a:ext cx="8554500" cy="1661993"/>
          </a:xfrm>
          <a:prstGeom prst="rect">
            <a:avLst/>
          </a:prstGeom>
          <a:noFill/>
          <a:ln>
            <a:noFill/>
          </a:ln>
          <a:effectLst>
            <a:outerShdw blurRad="828675" dist="19050" dir="90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PROJECT WORKING</a:t>
            </a:r>
            <a:endParaRPr sz="9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15537-FE7C-019B-A2E6-77800CF299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28509" y="187789"/>
            <a:ext cx="7536022" cy="2778692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249" name="Google Shape;249;p22"/>
          <p:cNvCxnSpPr/>
          <p:nvPr/>
        </p:nvCxnSpPr>
        <p:spPr>
          <a:xfrm>
            <a:off x="10836983" y="1246774"/>
            <a:ext cx="2029341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B3E7E4E-16F6-2194-C0E4-C3EAAD554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902" y="3340965"/>
            <a:ext cx="7543627" cy="310121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250" name="Google Shape;250;p22"/>
          <p:cNvCxnSpPr/>
          <p:nvPr/>
        </p:nvCxnSpPr>
        <p:spPr>
          <a:xfrm>
            <a:off x="10836983" y="4704332"/>
            <a:ext cx="2029341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EC7EC0B-0E67-5E43-FDA6-A2D6F5EEF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0903" y="6706685"/>
            <a:ext cx="7543627" cy="3241978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251" name="Google Shape;251;p22"/>
          <p:cNvCxnSpPr/>
          <p:nvPr/>
        </p:nvCxnSpPr>
        <p:spPr>
          <a:xfrm>
            <a:off x="10836983" y="8869812"/>
            <a:ext cx="2029341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31;p14">
            <a:extLst>
              <a:ext uri="{FF2B5EF4-FFF2-40B4-BE49-F238E27FC236}">
                <a16:creationId xmlns:a16="http://schemas.microsoft.com/office/drawing/2014/main" id="{DA9C6E10-A303-F4C0-19A2-857E3DBDD391}"/>
              </a:ext>
            </a:extLst>
          </p:cNvPr>
          <p:cNvSpPr txBox="1"/>
          <p:nvPr/>
        </p:nvSpPr>
        <p:spPr>
          <a:xfrm>
            <a:off x="12714157" y="8419689"/>
            <a:ext cx="3907834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dirty="0">
                <a:solidFill>
                  <a:srgbClr val="00B0F0"/>
                </a:solidFill>
                <a:latin typeface="Teko Medium"/>
                <a:cs typeface="Teko Medium"/>
                <a:sym typeface="Teko Medium"/>
              </a:rPr>
              <a:t>DATASET OVERVIEW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1" name="Google Shape;131;p14">
            <a:extLst>
              <a:ext uri="{FF2B5EF4-FFF2-40B4-BE49-F238E27FC236}">
                <a16:creationId xmlns:a16="http://schemas.microsoft.com/office/drawing/2014/main" id="{CC910FB2-9C59-C16E-072A-2F7BAFCB751F}"/>
              </a:ext>
            </a:extLst>
          </p:cNvPr>
          <p:cNvSpPr txBox="1"/>
          <p:nvPr/>
        </p:nvSpPr>
        <p:spPr>
          <a:xfrm>
            <a:off x="12162070" y="4254209"/>
            <a:ext cx="3907834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dirty="0">
                <a:solidFill>
                  <a:srgbClr val="00B0F0"/>
                </a:solidFill>
                <a:latin typeface="Teko Medium"/>
                <a:cs typeface="Teko Medium"/>
                <a:sym typeface="Teko Medium"/>
              </a:rPr>
              <a:t>ROC CURVES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2" name="Google Shape;131;p14">
            <a:extLst>
              <a:ext uri="{FF2B5EF4-FFF2-40B4-BE49-F238E27FC236}">
                <a16:creationId xmlns:a16="http://schemas.microsoft.com/office/drawing/2014/main" id="{221739AD-C220-DAF8-736D-4AE6E91D1238}"/>
              </a:ext>
            </a:extLst>
          </p:cNvPr>
          <p:cNvSpPr txBox="1"/>
          <p:nvPr/>
        </p:nvSpPr>
        <p:spPr>
          <a:xfrm>
            <a:off x="12997074" y="796651"/>
            <a:ext cx="3907834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00B0F0"/>
                </a:solidFill>
                <a:latin typeface="Teko Medium"/>
                <a:ea typeface="Teko Medium"/>
                <a:cs typeface="Teko Medium"/>
                <a:sym typeface="Teko Medium"/>
              </a:rPr>
              <a:t>FRAUD DISTRIBUTION</a:t>
            </a:r>
            <a:endParaRPr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A72C7A94-26B6-0FD1-89EF-CFF3AA6E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B35178EB-08B3-F64D-4AA3-5E4FFFCD7A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478" t="26153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>
            <a:extLst>
              <a:ext uri="{FF2B5EF4-FFF2-40B4-BE49-F238E27FC236}">
                <a16:creationId xmlns:a16="http://schemas.microsoft.com/office/drawing/2014/main" id="{3D288EC1-5E06-FEA9-698F-67BCF0839CAE}"/>
              </a:ext>
            </a:extLst>
          </p:cNvPr>
          <p:cNvPicPr preferRelativeResize="0"/>
          <p:nvPr/>
        </p:nvPicPr>
        <p:blipFill rotWithShape="1">
          <a:blip r:embed="rId4">
            <a:alphaModFix amt="41000"/>
          </a:blip>
          <a:srcRect r="50000"/>
          <a:stretch/>
        </p:blipFill>
        <p:spPr>
          <a:xfrm flipH="1">
            <a:off x="7978877" y="-759685"/>
            <a:ext cx="11471688" cy="14825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E5B08C1A-D2CD-2D69-6D6C-B74CD0CADAD9}"/>
              </a:ext>
            </a:extLst>
          </p:cNvPr>
          <p:cNvSpPr txBox="1"/>
          <p:nvPr/>
        </p:nvSpPr>
        <p:spPr>
          <a:xfrm>
            <a:off x="9144000" y="414913"/>
            <a:ext cx="7017000" cy="2316900"/>
          </a:xfrm>
          <a:prstGeom prst="rect">
            <a:avLst/>
          </a:prstGeom>
          <a:noFill/>
          <a:ln>
            <a:noFill/>
          </a:ln>
          <a:effectLst>
            <a:outerShdw blurRad="828675" dist="19050" dir="48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52" b="0" i="0" u="none" strike="noStrike" cap="none" dirty="0">
                <a:solidFill>
                  <a:schemeClr val="lt1"/>
                </a:solidFill>
                <a:latin typeface="Teko Medium"/>
                <a:ea typeface="Teko Medium"/>
                <a:cs typeface="Teko Medium"/>
                <a:sym typeface="Teko Medium"/>
              </a:rPr>
              <a:t>ABOUT US</a:t>
            </a:r>
            <a:endParaRPr dirty="0"/>
          </a:p>
        </p:txBody>
      </p:sp>
      <p:cxnSp>
        <p:nvCxnSpPr>
          <p:cNvPr id="158" name="Google Shape;158;p16">
            <a:extLst>
              <a:ext uri="{FF2B5EF4-FFF2-40B4-BE49-F238E27FC236}">
                <a16:creationId xmlns:a16="http://schemas.microsoft.com/office/drawing/2014/main" id="{A62FC8AC-5FA1-31E2-1357-BF11303994B4}"/>
              </a:ext>
            </a:extLst>
          </p:cNvPr>
          <p:cNvCxnSpPr/>
          <p:nvPr/>
        </p:nvCxnSpPr>
        <p:spPr>
          <a:xfrm rot="-9591">
            <a:off x="-20" y="4769821"/>
            <a:ext cx="10242251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65DA8921-08A8-EFC4-5C91-A7DC54A5D13D}"/>
              </a:ext>
            </a:extLst>
          </p:cNvPr>
          <p:cNvSpPr txBox="1"/>
          <p:nvPr/>
        </p:nvSpPr>
        <p:spPr>
          <a:xfrm>
            <a:off x="9406913" y="5919488"/>
            <a:ext cx="7852387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Elaborate on what you want to discuss.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9FF19-09CE-082B-F5A6-3BBC5C99A2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1689">
            <a:off x="507709" y="1208415"/>
            <a:ext cx="5606669" cy="4086864"/>
          </a:xfrm>
          <a:prstGeom prst="rect">
            <a:avLst/>
          </a:prstGeom>
          <a:ln>
            <a:noFill/>
          </a:ln>
          <a:effectLst>
            <a:outerShdw blurRad="292100" dist="381000" dir="16200000" sx="97000" sy="97000" rotWithShape="0">
              <a:prstClr val="black">
                <a:alpha val="93000"/>
              </a:prstClr>
            </a:outerShdw>
            <a:reflection blurRad="6350" stA="50000" endA="300" endPos="55000" dir="5400000" sy="-100000" algn="bl" rotWithShape="0"/>
          </a:effectLst>
        </p:spPr>
      </p:pic>
      <p:pic>
        <p:nvPicPr>
          <p:cNvPr id="5" name="Google Shape;770;p42">
            <a:extLst>
              <a:ext uri="{FF2B5EF4-FFF2-40B4-BE49-F238E27FC236}">
                <a16:creationId xmlns:a16="http://schemas.microsoft.com/office/drawing/2014/main" id="{683DA4CB-E4B4-701C-DA16-6462A6C3618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7825" b="7824"/>
          <a:stretch/>
        </p:blipFill>
        <p:spPr>
          <a:xfrm>
            <a:off x="34596" y="0"/>
            <a:ext cx="18288000" cy="1028700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Google Shape;292;p24">
            <a:extLst>
              <a:ext uri="{FF2B5EF4-FFF2-40B4-BE49-F238E27FC236}">
                <a16:creationId xmlns:a16="http://schemas.microsoft.com/office/drawing/2014/main" id="{10EB531F-7CE7-8125-8004-7A1940ADFB85}"/>
              </a:ext>
            </a:extLst>
          </p:cNvPr>
          <p:cNvSpPr txBox="1"/>
          <p:nvPr/>
        </p:nvSpPr>
        <p:spPr>
          <a:xfrm>
            <a:off x="4395452" y="101300"/>
            <a:ext cx="10996947" cy="1077218"/>
          </a:xfrm>
          <a:prstGeom prst="rect">
            <a:avLst/>
          </a:prstGeom>
          <a:noFill/>
          <a:ln>
            <a:noFill/>
          </a:ln>
          <a:effectLst>
            <a:outerShdw blurRad="828675" dist="19050" dir="84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>
                <a:solidFill>
                  <a:srgbClr val="00B0F0"/>
                </a:solidFill>
                <a:latin typeface="Teko Medium"/>
                <a:cs typeface="Teko Medium"/>
                <a:sym typeface="Teko Medium"/>
              </a:rPr>
              <a:t>PROJECT WORKING</a:t>
            </a:r>
            <a:endParaRPr sz="7000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CA508B-2E52-BA47-8B61-79C88F1A6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64" y="1238332"/>
            <a:ext cx="7753388" cy="402702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3CADE3-BA4B-42D7-4A0C-FD907987CD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6649" y="1238331"/>
            <a:ext cx="7852387" cy="402702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94BC15-16E4-9916-93A2-674725CB0A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6649" y="5543794"/>
            <a:ext cx="7852387" cy="430763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08B392-EA29-B998-DE76-BC454F2126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965" y="5564453"/>
            <a:ext cx="7753388" cy="428697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507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6BFDC15-1362-AFD8-A187-4F330281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4">
            <a:extLst>
              <a:ext uri="{FF2B5EF4-FFF2-40B4-BE49-F238E27FC236}">
                <a16:creationId xmlns:a16="http://schemas.microsoft.com/office/drawing/2014/main" id="{3C19A352-E492-4B43-B609-219E35D75E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>
            <a:extLst>
              <a:ext uri="{FF2B5EF4-FFF2-40B4-BE49-F238E27FC236}">
                <a16:creationId xmlns:a16="http://schemas.microsoft.com/office/drawing/2014/main" id="{E2445F52-1947-EA36-D8FA-B4A3AE7641CC}"/>
              </a:ext>
            </a:extLst>
          </p:cNvPr>
          <p:cNvSpPr txBox="1"/>
          <p:nvPr/>
        </p:nvSpPr>
        <p:spPr>
          <a:xfrm>
            <a:off x="479906" y="0"/>
            <a:ext cx="16932000" cy="1846659"/>
          </a:xfrm>
          <a:prstGeom prst="rect">
            <a:avLst/>
          </a:prstGeom>
          <a:noFill/>
          <a:ln>
            <a:noFill/>
          </a:ln>
          <a:effectLst>
            <a:outerShdw blurRad="842963" dist="19050" dir="102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APPLICATIONS</a:t>
            </a:r>
            <a:endParaRPr sz="10000" dirty="0"/>
          </a:p>
        </p:txBody>
      </p:sp>
      <p:cxnSp>
        <p:nvCxnSpPr>
          <p:cNvPr id="136" name="Google Shape;136;p14">
            <a:extLst>
              <a:ext uri="{FF2B5EF4-FFF2-40B4-BE49-F238E27FC236}">
                <a16:creationId xmlns:a16="http://schemas.microsoft.com/office/drawing/2014/main" id="{90D915BD-3599-E0C1-102E-0AF6EC1685EE}"/>
              </a:ext>
            </a:extLst>
          </p:cNvPr>
          <p:cNvCxnSpPr/>
          <p:nvPr/>
        </p:nvCxnSpPr>
        <p:spPr>
          <a:xfrm>
            <a:off x="5699786" y="1614875"/>
            <a:ext cx="6492240" cy="0"/>
          </a:xfrm>
          <a:prstGeom prst="straightConnector1">
            <a:avLst/>
          </a:prstGeom>
          <a:noFill/>
          <a:ln w="57150" cap="flat" cmpd="sng">
            <a:solidFill>
              <a:srgbClr val="60B3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293;p24">
            <a:extLst>
              <a:ext uri="{FF2B5EF4-FFF2-40B4-BE49-F238E27FC236}">
                <a16:creationId xmlns:a16="http://schemas.microsoft.com/office/drawing/2014/main" id="{DC2C29A5-F6BF-4DA0-32D8-3140FFCD68D2}"/>
              </a:ext>
            </a:extLst>
          </p:cNvPr>
          <p:cNvSpPr txBox="1"/>
          <p:nvPr/>
        </p:nvSpPr>
        <p:spPr>
          <a:xfrm>
            <a:off x="2754026" y="2119618"/>
            <a:ext cx="9011254" cy="143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200" dirty="0">
              <a:solidFill>
                <a:srgbClr val="00B0F0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60B3DD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DC0AF0-90E8-7110-9844-00DFEADE9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9742" y="2230211"/>
            <a:ext cx="12268200" cy="5086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Used by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banks and financial institutions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 to prevent fraud.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Helps in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real-time transaction monitoring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Enhances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customer trust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 by ensuring transaction safety.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Reduces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financial losses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 caused by fraudulent activities.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Can be integrated into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eko Medium" panose="020B0604020202020204" charset="0"/>
                <a:cs typeface="Teko Medium" panose="020B0604020202020204" charset="0"/>
              </a:rPr>
              <a:t>mobile banking or payment apps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96B6D-5D8B-266A-C23F-E26515F1D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70760" y="2503170"/>
            <a:ext cx="8884920" cy="597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-1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8"/>
          <p:cNvGrpSpPr/>
          <p:nvPr/>
        </p:nvGrpSpPr>
        <p:grpSpPr>
          <a:xfrm>
            <a:off x="1298993" y="4282440"/>
            <a:ext cx="7384395" cy="5270544"/>
            <a:chOff x="0" y="-38100"/>
            <a:chExt cx="1726959" cy="1297681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1726959" cy="1259581"/>
            </a:xfrm>
            <a:custGeom>
              <a:avLst/>
              <a:gdLst/>
              <a:ahLst/>
              <a:cxnLst/>
              <a:rect l="l" t="t" r="r" b="b"/>
              <a:pathLst>
                <a:path w="1726959" h="1259581" extrusionOk="0">
                  <a:moveTo>
                    <a:pt x="0" y="0"/>
                  </a:moveTo>
                  <a:lnTo>
                    <a:pt x="1726959" y="0"/>
                  </a:lnTo>
                  <a:lnTo>
                    <a:pt x="1726959" y="1259581"/>
                  </a:lnTo>
                  <a:lnTo>
                    <a:pt x="0" y="1259581"/>
                  </a:lnTo>
                  <a:close/>
                </a:path>
              </a:pathLst>
            </a:custGeom>
            <a:solidFill>
              <a:srgbClr val="132E57"/>
            </a:solidFill>
            <a:ln>
              <a:noFill/>
            </a:ln>
          </p:spPr>
        </p:sp>
        <p:sp>
          <p:nvSpPr>
            <p:cNvPr id="182" name="Google Shape;182;p1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8"/>
          <p:cNvSpPr txBox="1"/>
          <p:nvPr/>
        </p:nvSpPr>
        <p:spPr>
          <a:xfrm>
            <a:off x="3619996" y="4566906"/>
            <a:ext cx="3646800" cy="997196"/>
          </a:xfrm>
          <a:prstGeom prst="rect">
            <a:avLst/>
          </a:prstGeom>
          <a:noFill/>
          <a:ln>
            <a:noFill/>
          </a:ln>
          <a:effectLst>
            <a:outerShdw blurRad="542925" dist="19050" dir="90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PROBLEMS</a:t>
            </a:r>
            <a:endParaRPr sz="5400" dirty="0"/>
          </a:p>
        </p:txBody>
      </p:sp>
      <p:grpSp>
        <p:nvGrpSpPr>
          <p:cNvPr id="185" name="Google Shape;185;p18"/>
          <p:cNvGrpSpPr/>
          <p:nvPr/>
        </p:nvGrpSpPr>
        <p:grpSpPr>
          <a:xfrm>
            <a:off x="9604611" y="4282440"/>
            <a:ext cx="7159389" cy="5221901"/>
            <a:chOff x="0" y="-38100"/>
            <a:chExt cx="1726959" cy="1297681"/>
          </a:xfrm>
        </p:grpSpPr>
        <p:sp>
          <p:nvSpPr>
            <p:cNvPr id="186" name="Google Shape;186;p18"/>
            <p:cNvSpPr/>
            <p:nvPr/>
          </p:nvSpPr>
          <p:spPr>
            <a:xfrm>
              <a:off x="0" y="0"/>
              <a:ext cx="1726959" cy="1259581"/>
            </a:xfrm>
            <a:custGeom>
              <a:avLst/>
              <a:gdLst/>
              <a:ahLst/>
              <a:cxnLst/>
              <a:rect l="l" t="t" r="r" b="b"/>
              <a:pathLst>
                <a:path w="1726959" h="1259581" extrusionOk="0">
                  <a:moveTo>
                    <a:pt x="0" y="0"/>
                  </a:moveTo>
                  <a:lnTo>
                    <a:pt x="1726959" y="0"/>
                  </a:lnTo>
                  <a:lnTo>
                    <a:pt x="1726959" y="1259581"/>
                  </a:lnTo>
                  <a:lnTo>
                    <a:pt x="0" y="1259581"/>
                  </a:lnTo>
                  <a:close/>
                </a:path>
              </a:pathLst>
            </a:custGeom>
            <a:solidFill>
              <a:srgbClr val="132E57"/>
            </a:solidFill>
            <a:ln>
              <a:noFill/>
            </a:ln>
          </p:spPr>
        </p:sp>
        <p:sp>
          <p:nvSpPr>
            <p:cNvPr id="187" name="Google Shape;187;p1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18"/>
          <p:cNvSpPr txBox="1"/>
          <p:nvPr/>
        </p:nvSpPr>
        <p:spPr>
          <a:xfrm>
            <a:off x="10646725" y="4444747"/>
            <a:ext cx="3794700" cy="997196"/>
          </a:xfrm>
          <a:prstGeom prst="rect">
            <a:avLst/>
          </a:prstGeom>
          <a:noFill/>
          <a:ln>
            <a:noFill/>
          </a:ln>
          <a:effectLst>
            <a:outerShdw blurRad="828675" dist="19050" dir="72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SOLUTIONS</a:t>
            </a:r>
            <a:endParaRPr sz="5400"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10090096" y="5648576"/>
            <a:ext cx="6188417" cy="417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Used SMOTE technique to balance classes.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Applied cross-validation to avoid overfitting.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Compared multiple models and selected the one with highest F1-score.</a:t>
            </a:r>
          </a:p>
          <a:p>
            <a:pPr marL="0" marR="0" lvl="0" indent="0" algn="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90" name="Google Shape;190;p18"/>
          <p:cNvCxnSpPr/>
          <p:nvPr/>
        </p:nvCxnSpPr>
        <p:spPr>
          <a:xfrm rot="-8341">
            <a:off x="3255394" y="5475352"/>
            <a:ext cx="11777209" cy="0"/>
          </a:xfrm>
          <a:prstGeom prst="straightConnector1">
            <a:avLst/>
          </a:prstGeom>
          <a:noFill/>
          <a:ln w="57150" cap="flat" cmpd="sng">
            <a:solidFill>
              <a:srgbClr val="41B8D5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C3A10AD-7FFE-F76F-B0AC-FE5A68818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341" y="1643427"/>
            <a:ext cx="14035317" cy="2295786"/>
          </a:xfrm>
          <a:prstGeom prst="rect">
            <a:avLst/>
          </a:prstGeom>
        </p:spPr>
      </p:pic>
      <p:sp>
        <p:nvSpPr>
          <p:cNvPr id="4" name="Google Shape;129;p14">
            <a:extLst>
              <a:ext uri="{FF2B5EF4-FFF2-40B4-BE49-F238E27FC236}">
                <a16:creationId xmlns:a16="http://schemas.microsoft.com/office/drawing/2014/main" id="{549483BB-5A16-0DAE-3E0C-25CC8C1610BA}"/>
              </a:ext>
            </a:extLst>
          </p:cNvPr>
          <p:cNvSpPr txBox="1"/>
          <p:nvPr/>
        </p:nvSpPr>
        <p:spPr>
          <a:xfrm>
            <a:off x="289200" y="-19121"/>
            <a:ext cx="16932000" cy="1754326"/>
          </a:xfrm>
          <a:prstGeom prst="rect">
            <a:avLst/>
          </a:prstGeom>
          <a:noFill/>
          <a:ln>
            <a:noFill/>
          </a:ln>
          <a:effectLst>
            <a:outerShdw blurRad="842963" dist="19050" dir="102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PROBLEMS AND SOLUTIONS</a:t>
            </a:r>
            <a:endParaRPr sz="95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AA45AA1-FA95-CD63-EA79-50430B7E7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666" y="6091716"/>
            <a:ext cx="6557047" cy="279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Highly imbalanced dataset (fraud cases are very few).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Overfitting during model training.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Difficulty in choosing the best algorithm.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0" y="-67079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7"/>
          <p:cNvGrpSpPr/>
          <p:nvPr/>
        </p:nvGrpSpPr>
        <p:grpSpPr>
          <a:xfrm>
            <a:off x="15883906" y="-2554948"/>
            <a:ext cx="4337130" cy="4356571"/>
            <a:chOff x="1813" y="0"/>
            <a:chExt cx="809173" cy="812800"/>
          </a:xfrm>
        </p:grpSpPr>
        <p:sp>
          <p:nvSpPr>
            <p:cNvPr id="166" name="Google Shape;166;p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132E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12092850" y="1962093"/>
            <a:ext cx="3676562" cy="1969641"/>
            <a:chOff x="2792872" y="-481568"/>
            <a:chExt cx="1893341" cy="1056179"/>
          </a:xfrm>
        </p:grpSpPr>
        <p:sp>
          <p:nvSpPr>
            <p:cNvPr id="170" name="Google Shape;170;p17"/>
            <p:cNvSpPr/>
            <p:nvPr/>
          </p:nvSpPr>
          <p:spPr>
            <a:xfrm>
              <a:off x="3877040" y="-481568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0B3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2792872" y="-123889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17"/>
          <p:cNvSpPr txBox="1"/>
          <p:nvPr/>
        </p:nvSpPr>
        <p:spPr>
          <a:xfrm>
            <a:off x="725217" y="51386"/>
            <a:ext cx="15557400" cy="1661993"/>
          </a:xfrm>
          <a:prstGeom prst="rect">
            <a:avLst/>
          </a:prstGeom>
          <a:noFill/>
          <a:ln>
            <a:noFill/>
          </a:ln>
          <a:effectLst>
            <a:outerShdw blurRad="828675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FUTURE SCOPE</a:t>
            </a:r>
            <a:endParaRPr sz="9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8E3DBE-2B62-38EB-15DD-A912F0301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3951" y="441156"/>
            <a:ext cx="4079683" cy="4375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EC0A70-6F31-82E7-3D55-C60D97A38F95}"/>
              </a:ext>
            </a:extLst>
          </p:cNvPr>
          <p:cNvSpPr txBox="1"/>
          <p:nvPr/>
        </p:nvSpPr>
        <p:spPr>
          <a:xfrm>
            <a:off x="902091" y="2309858"/>
            <a:ext cx="15203652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Deep Learning Integration:</a:t>
            </a:r>
          </a:p>
          <a:p>
            <a:pPr lvl="3">
              <a:lnSpc>
                <a:spcPct val="150000"/>
              </a:lnSpc>
            </a:pPr>
            <a:r>
              <a:rPr lang="en-IN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	Implement </a:t>
            </a:r>
            <a:r>
              <a:rPr lang="en-IN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Autoencoders</a:t>
            </a:r>
            <a:r>
              <a:rPr lang="en-IN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 and </a:t>
            </a:r>
            <a:r>
              <a:rPr lang="en-IN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LSTM</a:t>
            </a:r>
            <a:r>
              <a:rPr lang="en-IN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 for sequence-based fraud detection.</a:t>
            </a:r>
          </a:p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Real-time Detection System:</a:t>
            </a:r>
          </a:p>
          <a:p>
            <a:pPr lvl="1">
              <a:lnSpc>
                <a:spcPct val="150000"/>
              </a:lnSpc>
            </a:pPr>
            <a:r>
              <a:rPr lang="en-IN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	Deploy using </a:t>
            </a:r>
            <a:r>
              <a:rPr lang="en-IN" sz="3200" b="1" dirty="0" err="1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Streamlit</a:t>
            </a:r>
            <a:r>
              <a:rPr lang="en-IN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 or </a:t>
            </a:r>
            <a:r>
              <a:rPr lang="en-IN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Flask API</a:t>
            </a:r>
            <a:r>
              <a:rPr lang="en-IN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 on IBM Cloud.</a:t>
            </a:r>
          </a:p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Explainable AI (XAI):</a:t>
            </a:r>
          </a:p>
          <a:p>
            <a:pPr lvl="1">
              <a:lnSpc>
                <a:spcPct val="150000"/>
              </a:lnSpc>
            </a:pPr>
            <a:r>
              <a:rPr lang="en-IN" sz="32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	Use SHAP/LIME to interpret fraud predictions.</a:t>
            </a:r>
          </a:p>
          <a:p>
            <a:pPr marL="457200" indent="-4572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B0F0"/>
                </a:solidFill>
                <a:latin typeface="Teko" panose="020B0604020202020204" charset="0"/>
                <a:cs typeface="Teko" panose="020B0604020202020204" charset="0"/>
              </a:rPr>
              <a:t>Blockchain Integration:</a:t>
            </a:r>
          </a:p>
          <a:p>
            <a:pPr lvl="3">
              <a:lnSpc>
                <a:spcPct val="150000"/>
              </a:lnSpc>
            </a:pPr>
            <a:r>
              <a:rPr lang="en-IN" sz="3200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	Secure transaction data validation.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-2161114" y="1082040"/>
            <a:ext cx="8458407" cy="9204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6550026" y="517749"/>
            <a:ext cx="8933814" cy="1538883"/>
          </a:xfrm>
          <a:prstGeom prst="rect">
            <a:avLst/>
          </a:prstGeom>
          <a:noFill/>
          <a:ln>
            <a:noFill/>
          </a:ln>
          <a:effectLst>
            <a:outerShdw blurRad="828675" dist="9525" dir="156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CONCLUSION</a:t>
            </a:r>
            <a:endParaRPr sz="10000" dirty="0"/>
          </a:p>
        </p:txBody>
      </p:sp>
      <p:sp>
        <p:nvSpPr>
          <p:cNvPr id="150" name="Google Shape;150;p15"/>
          <p:cNvSpPr/>
          <p:nvPr/>
        </p:nvSpPr>
        <p:spPr>
          <a:xfrm>
            <a:off x="9051634" y="4681835"/>
            <a:ext cx="18473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D81349-8F0A-10DD-85B6-56E99E4ED181}"/>
              </a:ext>
            </a:extLst>
          </p:cNvPr>
          <p:cNvSpPr txBox="1"/>
          <p:nvPr/>
        </p:nvSpPr>
        <p:spPr>
          <a:xfrm>
            <a:off x="6129653" y="1765823"/>
            <a:ext cx="11018520" cy="9995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Feature Engineering is the backbone of an effective fraud detection system.</a:t>
            </a:r>
          </a:p>
          <a:p>
            <a:pPr marL="571500" indent="-57150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Improved data representation led to better model precision, recall, and AUC.</a:t>
            </a:r>
          </a:p>
          <a:p>
            <a:pPr marL="571500" indent="-57150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Demonstrated how intelligent preprocessing can drastically reduce false positives and negatives.</a:t>
            </a:r>
          </a:p>
          <a:p>
            <a:pPr marL="571500" indent="-5715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Watch my project demo here : </a:t>
            </a:r>
            <a:r>
              <a:rPr lang="en-US" sz="3200" b="1" i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 </a:t>
            </a:r>
            <a:endParaRPr lang="en-US" sz="3200" b="1" i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View live this project: </a:t>
            </a:r>
            <a:r>
              <a:rPr lang="en-US" sz="3200" b="1" i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 the web app</a:t>
            </a:r>
            <a:endParaRPr lang="en-US" sz="3200" b="1" i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3200" b="1" i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Source code:  </a:t>
            </a:r>
            <a:r>
              <a:rPr lang="en-US" sz="3200" b="1" i="1" dirty="0">
                <a:solidFill>
                  <a:srgbClr val="0000FF"/>
                </a:solidFill>
                <a:latin typeface="Teko" panose="020B0604020202020204" charset="0"/>
                <a:cs typeface="Teko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source code on </a:t>
            </a:r>
            <a:r>
              <a:rPr lang="en-US" sz="3200" b="1" i="1" dirty="0" err="1">
                <a:solidFill>
                  <a:srgbClr val="0000FF"/>
                </a:solidFill>
                <a:latin typeface="Teko" panose="020B0604020202020204" charset="0"/>
                <a:cs typeface="Teko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3200" b="1" i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3200" b="1" i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571500" indent="-57150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en-US" sz="36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571500" indent="-57150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en-US" sz="36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44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44"/>
          <p:cNvPicPr preferRelativeResize="0"/>
          <p:nvPr/>
        </p:nvPicPr>
        <p:blipFill rotWithShape="1">
          <a:blip r:embed="rId4">
            <a:alphaModFix/>
          </a:blip>
          <a:srcRect l="24690" t="6082" r="23348"/>
          <a:stretch/>
        </p:blipFill>
        <p:spPr>
          <a:xfrm>
            <a:off x="11486192" y="651977"/>
            <a:ext cx="5773108" cy="156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44"/>
          <p:cNvSpPr txBox="1"/>
          <p:nvPr/>
        </p:nvSpPr>
        <p:spPr>
          <a:xfrm>
            <a:off x="1028700" y="1019175"/>
            <a:ext cx="9141300" cy="2062103"/>
          </a:xfrm>
          <a:prstGeom prst="rect">
            <a:avLst/>
          </a:prstGeom>
          <a:noFill/>
          <a:ln>
            <a:noFill/>
          </a:ln>
          <a:effectLst>
            <a:outerShdw blurRad="828675" dist="19050" dir="900000" algn="bl" rotWithShape="0">
              <a:srgbClr val="6CE5E8">
                <a:alpha val="95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dirty="0">
                <a:solidFill>
                  <a:schemeClr val="lt1"/>
                </a:solidFill>
                <a:latin typeface="Teko Medium"/>
                <a:cs typeface="Teko Medium"/>
                <a:sym typeface="Teko Medium"/>
              </a:rPr>
              <a:t>THANK YOU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9" name="Google Shape;799;p44"/>
          <p:cNvSpPr txBox="1"/>
          <p:nvPr/>
        </p:nvSpPr>
        <p:spPr>
          <a:xfrm>
            <a:off x="548745" y="5230474"/>
            <a:ext cx="10279351" cy="305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Watch my project demo here : </a:t>
            </a:r>
            <a:r>
              <a:rPr lang="en-US" sz="40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 </a:t>
            </a:r>
            <a:endParaRPr lang="en-US" sz="40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View live this project: </a:t>
            </a:r>
            <a:r>
              <a:rPr lang="en-US" sz="40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 the web app</a:t>
            </a:r>
            <a:endParaRPr lang="en-US" sz="40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</a:rPr>
              <a:t>Source code:  </a:t>
            </a:r>
            <a:r>
              <a:rPr lang="en-US" sz="4000" b="1" dirty="0">
                <a:solidFill>
                  <a:srgbClr val="0000FF"/>
                </a:solidFill>
                <a:latin typeface="Teko" panose="020B0604020202020204" charset="0"/>
                <a:cs typeface="Teko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source code on </a:t>
            </a:r>
            <a:r>
              <a:rPr lang="en-US" sz="4000" b="1" dirty="0" err="1">
                <a:solidFill>
                  <a:srgbClr val="0000FF"/>
                </a:solidFill>
                <a:latin typeface="Teko" panose="020B0604020202020204" charset="0"/>
                <a:cs typeface="Teko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4000" b="1" dirty="0">
                <a:solidFill>
                  <a:schemeClr val="bg1"/>
                </a:solidFill>
                <a:latin typeface="Teko" panose="020B0604020202020204" charset="0"/>
                <a:cs typeface="Teko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4000" b="1" dirty="0">
              <a:solidFill>
                <a:schemeClr val="bg1"/>
              </a:solidFill>
              <a:latin typeface="Teko" panose="020B0604020202020204" charset="0"/>
              <a:cs typeface="Teko" panose="020B0604020202020204" charset="0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02" name="Google Shape;802;p44"/>
          <p:cNvCxnSpPr/>
          <p:nvPr/>
        </p:nvCxnSpPr>
        <p:spPr>
          <a:xfrm rot="-5400000">
            <a:off x="6508784" y="5230474"/>
            <a:ext cx="7998501" cy="0"/>
          </a:xfrm>
          <a:prstGeom prst="straightConnector1">
            <a:avLst/>
          </a:prstGeom>
          <a:noFill/>
          <a:ln w="57150" cap="flat" cmpd="sng">
            <a:solidFill>
              <a:srgbClr val="1B89D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587</Words>
  <Application>Microsoft Office PowerPoint</Application>
  <PresentationFormat>Custom</PresentationFormat>
  <Paragraphs>96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Montserrat</vt:lpstr>
      <vt:lpstr>Courier New</vt:lpstr>
      <vt:lpstr>Teko</vt:lpstr>
      <vt:lpstr>Calibri</vt:lpstr>
      <vt:lpstr>Wingdings</vt:lpstr>
      <vt:lpstr>Teko Medium</vt:lpstr>
      <vt:lpstr>Georgia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Sajal Samanta</dc:creator>
  <cp:lastModifiedBy>sajalsamanta964@gmail.com</cp:lastModifiedBy>
  <cp:revision>2</cp:revision>
  <dcterms:modified xsi:type="dcterms:W3CDTF">2025-11-13T16:30:33Z</dcterms:modified>
</cp:coreProperties>
</file>