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6"/>
    <p:sldId id="262" r:id="rId7"/>
    <p:sldId id="263" r:id="rId8"/>
    <p:sldId id="260" r:id="rId9"/>
    <p:sldId id="265" r:id="rId10"/>
    <p:sldId id="264" r:id="rId11"/>
    <p:sldId id="267" r:id="rId12"/>
    <p:sldId id="266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045D63A-C57C-4403-AEA3-33AB5367A63A}" v="91" dt="2025-11-10T17:52:49.35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0CD5BF-1489-E3D7-19EE-530E0454F50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A2AEB68-7E62-1625-D3CE-CFD98962A85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B342A3-2D86-E663-1BE1-ABE7E09798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9A3F84-8139-411C-BE62-24F56DE06053}" type="datetimeFigureOut">
              <a:rPr lang="en-IN" smtClean="0"/>
              <a:t>10-11-2025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0C82AC-C800-B69C-1714-6FD1C5BBED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8B6FEA-4695-9466-A09D-0752477D5C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6E62CC-DCF6-4788-A1A2-35566A96F75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595733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CBF6DA-59AE-5A89-8629-0AC0874C44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C7B0CE-38F9-5642-83E9-B59EB2D044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D8A4A4-FC43-F867-A7FC-D74B700AF4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9A3F84-8139-411C-BE62-24F56DE06053}" type="datetimeFigureOut">
              <a:rPr lang="en-IN" smtClean="0"/>
              <a:t>10-11-2025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F1C81C-AF0B-DED0-5366-67C9C100AC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FB7161-F2EB-DF89-718D-F1333740EF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6E62CC-DCF6-4788-A1A2-35566A96F75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694369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FFE754-EC29-9853-ABD3-7B82916B99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B7DF4A1-F882-138F-0492-BB4B6578A5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387C4F-3C4E-3DA9-A8BE-C69D7E8C21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9A3F84-8139-411C-BE62-24F56DE06053}" type="datetimeFigureOut">
              <a:rPr lang="en-IN" smtClean="0"/>
              <a:t>10-11-2025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DE464F-29A1-6458-C759-63E208D24C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1BC74F-1D85-5D0F-D76E-5B5A6B5F13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6E62CC-DCF6-4788-A1A2-35566A96F75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784762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D2E404-0B47-321E-F0ED-0F4979A32A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D240B3-A5B0-9B74-55D1-9446F93C04E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78925AB-F06F-627E-DB3F-30CE0B0CDE8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C5CE077-B93D-3282-564D-4DBB0DF516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9A3F84-8139-411C-BE62-24F56DE06053}" type="datetimeFigureOut">
              <a:rPr lang="en-IN" smtClean="0"/>
              <a:t>10-11-2025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519793C-4F35-C264-261E-E223F97554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A53AF7-E93D-C728-F7F7-848A151DDF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6E62CC-DCF6-4788-A1A2-35566A96F75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442305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F0C2B9-7283-65D5-34B1-E98CBAC2FA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89B1235-A590-665F-1B3E-384482077B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4AF684D-1A6C-4BA0-6EAA-198651BF49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8840B51-C7AC-6A9A-ACA9-0EF973CA303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9AEB0E7-7ED2-596D-10C6-8EEAC35D2F4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1C7DEAA-59D8-981C-9F0F-DBFD546A0F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9A3F84-8139-411C-BE62-24F56DE06053}" type="datetimeFigureOut">
              <a:rPr lang="en-IN" smtClean="0"/>
              <a:t>10-11-2025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530D913-249B-2CAE-5684-2F9F93A57A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190BAC7-8E76-4376-C458-1BD317DC46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6E62CC-DCF6-4788-A1A2-35566A96F75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057920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8373D6-B7AC-91B3-0318-5258114C40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A09D86D-19B4-CB21-3BCC-3F7C4554F9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9A3F84-8139-411C-BE62-24F56DE06053}" type="datetimeFigureOut">
              <a:rPr lang="en-IN" smtClean="0"/>
              <a:t>10-11-2025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4D8F768-EEFA-EA01-2B19-8A12FABDB5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B52AF3A-1D9D-D25D-9610-90460E644C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6E62CC-DCF6-4788-A1A2-35566A96F75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051808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523F5B0-7C74-BE85-5ED1-F1D2C463B7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9A3F84-8139-411C-BE62-24F56DE06053}" type="datetimeFigureOut">
              <a:rPr lang="en-IN" smtClean="0"/>
              <a:t>10-11-2025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305A0F7-DB5E-2CAB-CF35-489F38A292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A1A5B6-3C2B-CAB9-CD98-93EA86B79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6E62CC-DCF6-4788-A1A2-35566A96F75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531625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18A7E6-362C-F986-BA46-8535A688D7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7F2952-12BE-66D4-C856-87C01E3B32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B1245A1-9378-55CB-87C4-B4F020E8E7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D3F1AA7-D2D6-25B7-5CA8-59BE608611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9A3F84-8139-411C-BE62-24F56DE06053}" type="datetimeFigureOut">
              <a:rPr lang="en-IN" smtClean="0"/>
              <a:t>10-11-2025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398104-1191-7FFA-83B3-DAE06729FE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3944E2F-FCED-42B4-B932-04F6326A17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6E62CC-DCF6-4788-A1A2-35566A96F75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546683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AEB0D2-0AF9-B53F-83A4-0F3274C378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D1E1797-E100-F94C-822C-EA4CA7AF933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5778A86-F2CC-7F0E-F752-28D5DED34CD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CCD31B-C858-DB00-2347-2C22A076ED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9A3F84-8139-411C-BE62-24F56DE06053}" type="datetimeFigureOut">
              <a:rPr lang="en-IN" smtClean="0"/>
              <a:t>10-11-2025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02E8640-861A-8EA5-0E7F-4BD966D8CB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01BC2C-2672-875D-493C-F4E53E6255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6E62CC-DCF6-4788-A1A2-35566A96F75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742628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2DCD2C-1C9F-FEBC-E35C-1E41434D5B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D40B661-3EE7-2503-66FF-A63EA0AAF77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B8ABCE-48C0-A74E-592D-D75A5932AA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9A3F84-8139-411C-BE62-24F56DE06053}" type="datetimeFigureOut">
              <a:rPr lang="en-IN" smtClean="0"/>
              <a:t>10-11-2025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285DF8-D683-E962-1B8E-20270CC983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102E1C-B2F8-7D7B-E49C-155FD6A983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6E62CC-DCF6-4788-A1A2-35566A96F75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808826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52B0C30-AC0B-D96A-58E3-6E09486292B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04269B1-1C61-FA5E-4127-D62010E4E45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A65119-3F21-EE7B-BA85-3F8258E4F9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9A3F84-8139-411C-BE62-24F56DE06053}" type="datetimeFigureOut">
              <a:rPr lang="en-IN" smtClean="0"/>
              <a:t>10-11-2025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BBF199-DB04-DC9F-396C-78003B9F82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F9C2E3-1101-D3E9-2B96-E78A6A3A8F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6E62CC-DCF6-4788-A1A2-35566A96F75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251891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EA6DAB5-55F8-B776-B9C9-E124557E7F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0F282AC-4F9F-B00A-750C-4981161BFB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E129C7-8FE9-C59E-089D-4BDE3618B13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9A3F84-8139-411C-BE62-24F56DE06053}" type="datetimeFigureOut">
              <a:rPr lang="en-IN" smtClean="0"/>
              <a:t>10-11-2025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9FFAAB-4457-5377-AC73-8E07CAA6AF7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46105B-5F03-35DC-32E6-BF7D0A1CAFB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C6E62CC-DCF6-4788-A1A2-35566A96F75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16111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credit-card-fraud-detection-djpk2qfpzyfov9yfmavpsr.streamlit.app/" TargetMode="External"/><Relationship Id="rId7" Type="http://schemas.openxmlformats.org/officeDocument/2006/relationships/image" Target="../media/image8.png"/><Relationship Id="rId2" Type="http://schemas.openxmlformats.org/officeDocument/2006/relationships/hyperlink" Target="https://drive.google.com/file/d/1DFoq8OFrZuCiIomSBjEDNRy17rNT1Tub/view?usp=drivesdk" TargetMode="Externa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hyperlink" Target="https://github.com/sajal-samanta/credit-card-fraud-detection" TargetMode="Externa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credit-card-fraud-detection-djpk2qfpzyfov9yfmavpsr.streamlit.app/" TargetMode="External"/><Relationship Id="rId2" Type="http://schemas.openxmlformats.org/officeDocument/2006/relationships/hyperlink" Target="https://drive.google.com/file/d/1DFoq8OFrZuCiIomSBjEDNRy17rNT1Tub/view?usp=drivesdk" TargetMode="External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github.com/sajal-samanta/credit-card-fraud-detection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C3117D7F-C09B-1E5F-C421-48456F5A0386}"/>
              </a:ext>
            </a:extLst>
          </p:cNvPr>
          <p:cNvSpPr/>
          <p:nvPr/>
        </p:nvSpPr>
        <p:spPr>
          <a:xfrm>
            <a:off x="0" y="0"/>
            <a:ext cx="12368981" cy="6858000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0D01B80-16B8-B7B7-5938-EB484118B49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66243" y="1671484"/>
            <a:ext cx="7979799" cy="434255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9F1A44E-1206-759D-47FA-5C1D7CDF0DD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1688" y="5073445"/>
            <a:ext cx="3101616" cy="1711581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BF95176B-A2D0-EE8C-0F2B-02039201C013}"/>
              </a:ext>
            </a:extLst>
          </p:cNvPr>
          <p:cNvSpPr/>
          <p:nvPr/>
        </p:nvSpPr>
        <p:spPr>
          <a:xfrm>
            <a:off x="1162204" y="236817"/>
            <a:ext cx="9472783" cy="132343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4000" dirty="0">
                <a:latin typeface="Amasis MT Pro Black" panose="02040A04050005020304" pitchFamily="18" charset="0"/>
              </a:rPr>
              <a:t>Feature Engineering for Credit Card </a:t>
            </a:r>
            <a:r>
              <a:rPr lang="en-US" sz="4000" dirty="0">
                <a:solidFill>
                  <a:srgbClr val="FF0000"/>
                </a:solidFill>
                <a:latin typeface="Amasis MT Pro Black" panose="02040A04050005020304" pitchFamily="18" charset="0"/>
              </a:rPr>
              <a:t>Fraud</a:t>
            </a:r>
            <a:r>
              <a:rPr lang="en-US" sz="4000" dirty="0">
                <a:latin typeface="Amasis MT Pro Black" panose="02040A04050005020304" pitchFamily="18" charset="0"/>
              </a:rPr>
              <a:t> Detection</a:t>
            </a:r>
            <a:endParaRPr lang="en-US" sz="40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masis MT Pro Black" panose="02040A04050005020304" pitchFamily="18" charset="0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553F0EA-F6EE-9A0B-D446-E4E0665F4BC5}"/>
              </a:ext>
            </a:extLst>
          </p:cNvPr>
          <p:cNvSpPr/>
          <p:nvPr/>
        </p:nvSpPr>
        <p:spPr>
          <a:xfrm>
            <a:off x="7354529" y="2466199"/>
            <a:ext cx="4770803" cy="470898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2400" b="1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Submitted By</a:t>
            </a:r>
          </a:p>
          <a:p>
            <a:pPr algn="ctr"/>
            <a:endParaRPr lang="en-US" sz="2400" b="1" dirty="0">
              <a:latin typeface="Bodoni MT Black" panose="02070A03080606020203" pitchFamily="18" charset="0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2400" dirty="0">
                <a:latin typeface="Amasis MT Pro Black" panose="02040A04050005020304" pitchFamily="18" charset="0"/>
              </a:rPr>
              <a:t>Name: </a:t>
            </a:r>
            <a:r>
              <a:rPr lang="en-IN" sz="2400" dirty="0">
                <a:solidFill>
                  <a:srgbClr val="002060"/>
                </a:solidFill>
                <a:latin typeface="Amasis MT Pro Black" panose="02040A04050005020304" pitchFamily="18" charset="0"/>
              </a:rPr>
              <a:t>Sajal Samanta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400" dirty="0">
                <a:latin typeface="Amasis MT Pro Black" panose="02040A04050005020304" pitchFamily="18" charset="0"/>
              </a:rPr>
              <a:t>Institution: </a:t>
            </a:r>
            <a:r>
              <a:rPr lang="en-US" sz="2400" dirty="0">
                <a:solidFill>
                  <a:srgbClr val="002060"/>
                </a:solidFill>
                <a:latin typeface="Amasis MT Pro Black" panose="02040A04050005020304" pitchFamily="18" charset="0"/>
              </a:rPr>
              <a:t>Techno India University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400" dirty="0">
                <a:latin typeface="Amasis MT Pro Black" panose="02040A04050005020304" pitchFamily="18" charset="0"/>
              </a:rPr>
              <a:t>Instructor: </a:t>
            </a:r>
            <a:r>
              <a:rPr lang="en-US" sz="2400" dirty="0">
                <a:solidFill>
                  <a:srgbClr val="002060"/>
                </a:solidFill>
                <a:latin typeface="Amasis MT Pro Black" panose="02040A04050005020304" pitchFamily="18" charset="0"/>
              </a:rPr>
              <a:t>Naina Devi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400" dirty="0">
                <a:latin typeface="Amasis MT Pro Black" panose="02040A04050005020304" pitchFamily="18" charset="0"/>
              </a:rPr>
              <a:t>Domain: </a:t>
            </a:r>
            <a:r>
              <a:rPr lang="en-US" sz="2400" dirty="0">
                <a:solidFill>
                  <a:srgbClr val="002060"/>
                </a:solidFill>
                <a:latin typeface="Amasis MT Pro Black" panose="02040A04050005020304" pitchFamily="18" charset="0"/>
              </a:rPr>
              <a:t>Machine Learning</a:t>
            </a:r>
            <a:endParaRPr lang="en-US" sz="2400" dirty="0">
              <a:solidFill>
                <a:srgbClr val="002060"/>
              </a:solidFill>
            </a:endParaRPr>
          </a:p>
          <a:p>
            <a:pPr algn="ctr"/>
            <a:endParaRPr lang="en-US" sz="2400" dirty="0"/>
          </a:p>
          <a:p>
            <a:pPr algn="ctr"/>
            <a:endParaRPr lang="en-US" sz="2400" dirty="0"/>
          </a:p>
          <a:p>
            <a:pPr algn="ctr"/>
            <a:endParaRPr lang="en-US" sz="2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910827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5A0E2F5-034D-D276-AFA1-843B05CAA748}"/>
              </a:ext>
            </a:extLst>
          </p:cNvPr>
          <p:cNvSpPr/>
          <p:nvPr/>
        </p:nvSpPr>
        <p:spPr>
          <a:xfrm>
            <a:off x="0" y="0"/>
            <a:ext cx="12192000" cy="6931742"/>
          </a:xfrm>
          <a:prstGeom prst="rect">
            <a:avLst/>
          </a:prstGeom>
          <a:solidFill>
            <a:schemeClr val="bg1">
              <a:lumMod val="85000"/>
            </a:schemeClr>
          </a:solidFill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D19BA43-E832-EDC7-64A7-372D9782CE1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11689">
            <a:off x="8972039" y="1161960"/>
            <a:ext cx="3030112" cy="1600200"/>
          </a:xfrm>
          <a:prstGeom prst="rect">
            <a:avLst/>
          </a:prstGeom>
          <a:ln>
            <a:noFill/>
          </a:ln>
          <a:effectLst>
            <a:outerShdw blurRad="50800" dist="38100" dir="16200000" rotWithShape="0">
              <a:prstClr val="black">
                <a:alpha val="40000"/>
              </a:prstClr>
            </a:outerShdw>
            <a:reflection blurRad="6350" stA="50000" endA="300" endPos="55000" dir="5400000" sy="-100000" algn="bl" rotWithShape="0"/>
          </a:effectLst>
          <a:scene3d>
            <a:camera prst="isometricOffAxis1Right"/>
            <a:lightRig rig="balanced" dir="t">
              <a:rot lat="0" lon="0" rev="8700000"/>
            </a:lightRig>
          </a:scene3d>
          <a:sp3d>
            <a:bevelT w="190500" h="38100"/>
          </a:sp3d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B531F8B8-6109-F170-1985-C2F9D55D876A}"/>
              </a:ext>
            </a:extLst>
          </p:cNvPr>
          <p:cNvSpPr/>
          <p:nvPr/>
        </p:nvSpPr>
        <p:spPr>
          <a:xfrm>
            <a:off x="458139" y="324464"/>
            <a:ext cx="7722299" cy="440671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sz="3200" b="1" i="1" dirty="0">
                <a:solidFill>
                  <a:schemeClr val="tx1">
                    <a:lumMod val="95000"/>
                    <a:lumOff val="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Overview:</a:t>
            </a:r>
          </a:p>
          <a:p>
            <a:pPr>
              <a:lnSpc>
                <a:spcPct val="150000"/>
              </a:lnSpc>
            </a:pPr>
            <a:r>
              <a:rPr lang="en-US" sz="2000" b="1" dirty="0">
                <a:latin typeface="Georgia" panose="02040502050405020303" pitchFamily="18" charset="0"/>
              </a:rPr>
              <a:t>Credit card fraud </a:t>
            </a:r>
            <a:r>
              <a:rPr lang="en-US" sz="2000" dirty="0">
                <a:latin typeface="Georgia" panose="02040502050405020303" pitchFamily="18" charset="0"/>
              </a:rPr>
              <a:t>poses a serious threat to financial institutions and customers. Detecting </a:t>
            </a:r>
            <a:r>
              <a:rPr lang="en-US" sz="2000" dirty="0">
                <a:solidFill>
                  <a:srgbClr val="FF0000"/>
                </a:solidFill>
                <a:latin typeface="Georgia" panose="02040502050405020303" pitchFamily="18" charset="0"/>
              </a:rPr>
              <a:t>fraudulent</a:t>
            </a:r>
            <a:r>
              <a:rPr lang="en-US" sz="2000" dirty="0">
                <a:latin typeface="Georgia" panose="02040502050405020303" pitchFamily="18" charset="0"/>
              </a:rPr>
              <a:t> transactions in real-time is challenging due to highly imbalanced datasets and complex patterns.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800" b="1" dirty="0">
                <a:latin typeface="Cambria" panose="02040503050406030204" pitchFamily="18" charset="0"/>
                <a:ea typeface="Cambria" panose="02040503050406030204" pitchFamily="18" charset="0"/>
              </a:rPr>
              <a:t>Objective:</a:t>
            </a:r>
            <a:br>
              <a:rPr lang="en-US" sz="2000" dirty="0"/>
            </a:br>
            <a:r>
              <a:rPr lang="en-US" sz="2000" dirty="0">
                <a:latin typeface="Georgia" panose="02040502050405020303" pitchFamily="18" charset="0"/>
              </a:rPr>
              <a:t>To apply </a:t>
            </a:r>
            <a:r>
              <a:rPr lang="en-US" sz="2000" b="1" dirty="0">
                <a:latin typeface="Georgia" panose="02040502050405020303" pitchFamily="18" charset="0"/>
              </a:rPr>
              <a:t>feature engineering techniques</a:t>
            </a:r>
            <a:r>
              <a:rPr lang="en-US" sz="2000" dirty="0">
                <a:latin typeface="Georgia" panose="02040502050405020303" pitchFamily="18" charset="0"/>
              </a:rPr>
              <a:t> that enhance the performance of </a:t>
            </a:r>
            <a:r>
              <a:rPr lang="en-US" sz="2000" b="1" dirty="0">
                <a:latin typeface="Georgia" panose="02040502050405020303" pitchFamily="18" charset="0"/>
              </a:rPr>
              <a:t>machine learning </a:t>
            </a:r>
            <a:r>
              <a:rPr lang="en-US" sz="2000" dirty="0">
                <a:latin typeface="Georgia" panose="02040502050405020303" pitchFamily="18" charset="0"/>
              </a:rPr>
              <a:t>models for fraud detection, improving both accuracy and interpretability.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8378C2D-5517-1A89-7044-71E0717588B4}"/>
              </a:ext>
            </a:extLst>
          </p:cNvPr>
          <p:cNvSpPr/>
          <p:nvPr/>
        </p:nvSpPr>
        <p:spPr>
          <a:xfrm>
            <a:off x="458139" y="4830092"/>
            <a:ext cx="11139695" cy="156966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sz="2800" b="1" i="1" dirty="0">
                <a:latin typeface="Cambria" panose="02040503050406030204" pitchFamily="18" charset="0"/>
                <a:ea typeface="Cambria" panose="02040503050406030204" pitchFamily="18" charset="0"/>
              </a:rPr>
              <a:t>Key Idea:</a:t>
            </a:r>
            <a:br>
              <a:rPr lang="en-US" sz="2800" dirty="0"/>
            </a:br>
            <a:r>
              <a:rPr lang="en-US" sz="2000" dirty="0">
                <a:latin typeface="Georgia" panose="02040502050405020303" pitchFamily="18" charset="0"/>
              </a:rPr>
              <a:t>Transform raw transaction data into meaningful, informative features that enable </a:t>
            </a:r>
            <a:r>
              <a:rPr lang="en-US" sz="2000" b="1" dirty="0">
                <a:latin typeface="Georgia" panose="02040502050405020303" pitchFamily="18" charset="0"/>
              </a:rPr>
              <a:t>ML algorithms </a:t>
            </a:r>
            <a:r>
              <a:rPr lang="en-US" sz="2000" dirty="0">
                <a:latin typeface="Georgia" panose="02040502050405020303" pitchFamily="18" charset="0"/>
              </a:rPr>
              <a:t>to better distinguish between </a:t>
            </a:r>
            <a:r>
              <a:rPr lang="en-US" sz="2000" dirty="0">
                <a:solidFill>
                  <a:srgbClr val="FF0000"/>
                </a:solidFill>
                <a:latin typeface="Georgia" panose="02040502050405020303" pitchFamily="18" charset="0"/>
              </a:rPr>
              <a:t>fraudulent</a:t>
            </a:r>
            <a:r>
              <a:rPr lang="en-US" sz="2000" dirty="0">
                <a:latin typeface="Georgia" panose="02040502050405020303" pitchFamily="18" charset="0"/>
              </a:rPr>
              <a:t> and </a:t>
            </a:r>
            <a:r>
              <a:rPr lang="en-US" sz="2000" dirty="0">
                <a:solidFill>
                  <a:srgbClr val="00B050"/>
                </a:solidFill>
                <a:latin typeface="Georgia" panose="02040502050405020303" pitchFamily="18" charset="0"/>
              </a:rPr>
              <a:t>genuine</a:t>
            </a:r>
            <a:r>
              <a:rPr lang="en-US" sz="2000" dirty="0">
                <a:latin typeface="Georgia" panose="02040502050405020303" pitchFamily="18" charset="0"/>
              </a:rPr>
              <a:t> transactions.</a:t>
            </a:r>
          </a:p>
          <a:p>
            <a:pPr algn="ctr"/>
            <a:endParaRPr lang="en-US" sz="28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133590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3A9AFEE-AB49-CCFE-5AEC-F90F386B239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45932" y="3515211"/>
            <a:ext cx="1669588" cy="1797875"/>
          </a:xfrm>
          <a:prstGeom prst="rect">
            <a:avLst/>
          </a:prstGeom>
          <a:effectLst>
            <a:innerShdw blurRad="63500" dist="50800" dir="13500000">
              <a:prstClr val="black">
                <a:alpha val="50000"/>
              </a:prstClr>
            </a:innerShdw>
          </a:effectLst>
          <a:scene3d>
            <a:camera prst="perspectiveLeft"/>
            <a:lightRig rig="threePt" dir="t"/>
          </a:scene3d>
          <a:sp3d>
            <a:bevelT/>
          </a:sp3d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A895340-8831-A62A-D5BA-DCC825AD3D7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48170" y="-121293"/>
            <a:ext cx="3164169" cy="3130711"/>
          </a:xfrm>
          <a:prstGeom prst="rect">
            <a:avLst/>
          </a:prstGeom>
          <a:effectLst>
            <a:glow rad="63500">
              <a:schemeClr val="accent5">
                <a:satMod val="175000"/>
                <a:alpha val="40000"/>
              </a:schemeClr>
            </a:glow>
            <a:outerShdw blurRad="50800" dist="38100" dir="8100000" algn="tr" rotWithShape="0">
              <a:prstClr val="black">
                <a:alpha val="40000"/>
              </a:prstClr>
            </a:outerShdw>
          </a:effectLst>
          <a:scene3d>
            <a:camera prst="perspectiveLeft"/>
            <a:lightRig rig="threePt" dir="t"/>
          </a:scene3d>
          <a:sp3d>
            <a:bevelT/>
          </a:sp3d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54933729-9A83-DA4C-9BE7-E77E5B9D2F62}"/>
              </a:ext>
            </a:extLst>
          </p:cNvPr>
          <p:cNvSpPr/>
          <p:nvPr/>
        </p:nvSpPr>
        <p:spPr>
          <a:xfrm>
            <a:off x="274059" y="603978"/>
            <a:ext cx="6773898" cy="1077218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3600" b="1" i="1" dirty="0">
                <a:ln w="0"/>
                <a:solidFill>
                  <a:srgbClr val="00B0F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ambria" panose="02040503050406030204" pitchFamily="18" charset="0"/>
                <a:ea typeface="Cambria" panose="02040503050406030204" pitchFamily="18" charset="0"/>
              </a:rPr>
              <a:t>Technology Stack</a:t>
            </a:r>
          </a:p>
          <a:p>
            <a:pPr algn="ctr"/>
            <a:endParaRPr lang="en-US" sz="2800" b="0" i="1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" name="Rectangle 2">
            <a:extLst>
              <a:ext uri="{FF2B5EF4-FFF2-40B4-BE49-F238E27FC236}">
                <a16:creationId xmlns:a16="http://schemas.microsoft.com/office/drawing/2014/main" id="{AC061DC6-72D6-0429-5D1C-C060643EAB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7919" y="1258680"/>
            <a:ext cx="8941195" cy="445673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24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 </a:t>
            </a:r>
            <a:r>
              <a:rPr kumimoji="0" lang="en-US" altLang="en-US" sz="2400" b="1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Pandas</a:t>
            </a:r>
            <a:r>
              <a:rPr kumimoji="0" lang="en-US" altLang="en-US" sz="24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, </a:t>
            </a:r>
            <a:r>
              <a:rPr kumimoji="0" lang="en-US" altLang="en-US" sz="2400" b="1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NumPy</a:t>
            </a:r>
            <a:r>
              <a:rPr kumimoji="0" lang="en-US" altLang="en-US" sz="24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 – Data manipulation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24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 </a:t>
            </a:r>
            <a:r>
              <a:rPr kumimoji="0" lang="en-US" altLang="en-US" sz="2400" b="1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Scikit-learn</a:t>
            </a:r>
            <a:r>
              <a:rPr kumimoji="0" lang="en-US" altLang="en-US" sz="24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 – Feature selection &amp; model building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24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 </a:t>
            </a:r>
            <a:r>
              <a:rPr kumimoji="0" lang="en-US" altLang="en-US" sz="2400" b="1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Matplotlib</a:t>
            </a:r>
            <a:r>
              <a:rPr kumimoji="0" lang="en-US" altLang="en-US" sz="24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, </a:t>
            </a:r>
            <a:r>
              <a:rPr kumimoji="0" lang="en-US" altLang="en-US" sz="2400" b="1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Seaborn</a:t>
            </a:r>
            <a:r>
              <a:rPr kumimoji="0" lang="en-US" altLang="en-US" sz="24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 – Data visualization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2400" b="1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Python 3.10+</a:t>
            </a:r>
            <a:endParaRPr kumimoji="0" lang="en-US" altLang="en-US" sz="2400" b="0" i="1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eorgia" panose="02040502050405020303" pitchFamily="18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24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 </a:t>
            </a:r>
            <a:r>
              <a:rPr kumimoji="0" lang="en-US" altLang="en-US" sz="2400" b="1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Random Forest</a:t>
            </a:r>
            <a:r>
              <a:rPr kumimoji="0" lang="en-US" altLang="en-US" sz="24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, </a:t>
            </a:r>
            <a:r>
              <a:rPr kumimoji="0" lang="en-US" altLang="en-US" sz="2400" b="1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Logistic Regression</a:t>
            </a:r>
            <a:r>
              <a:rPr kumimoji="0" lang="en-US" altLang="en-US" sz="24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, </a:t>
            </a:r>
            <a:r>
              <a:rPr kumimoji="0" lang="en-US" altLang="en-US" sz="2400" b="1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XGBoost</a:t>
            </a:r>
            <a:r>
              <a:rPr kumimoji="0" lang="en-US" altLang="en-US" sz="24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 – ML algorithms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24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 </a:t>
            </a:r>
            <a:r>
              <a:rPr kumimoji="0" lang="en-US" altLang="en-US" sz="2400" b="1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Imbalanced-learn (SMOTE)</a:t>
            </a:r>
            <a:r>
              <a:rPr kumimoji="0" lang="en-US" altLang="en-US" sz="24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 – Handling class imbalance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24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 </a:t>
            </a:r>
            <a:r>
              <a:rPr kumimoji="0" lang="en-US" altLang="en-US" sz="2400" b="1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Jupyter</a:t>
            </a:r>
            <a:r>
              <a:rPr kumimoji="0" lang="en-US" altLang="en-US" sz="2400" b="1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 Notebook</a:t>
            </a:r>
            <a:endParaRPr kumimoji="0" lang="en-US" altLang="en-US" sz="2400" b="0" i="1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eorgia" panose="020405020504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71580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2D861BE-FDB4-B5B7-0D9E-E1B83A298910}"/>
              </a:ext>
            </a:extLst>
          </p:cNvPr>
          <p:cNvSpPr/>
          <p:nvPr/>
        </p:nvSpPr>
        <p:spPr>
          <a:xfrm>
            <a:off x="530942" y="361787"/>
            <a:ext cx="11159613" cy="609397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IN" sz="3200" b="1" i="1" dirty="0">
                <a:solidFill>
                  <a:srgbClr val="7030A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Workflow</a:t>
            </a:r>
          </a:p>
          <a:p>
            <a:pPr algn="ctr"/>
            <a:endParaRPr lang="en-IN" sz="3200" b="1" i="1" dirty="0">
              <a:solidFill>
                <a:srgbClr val="7030A0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2000" b="1" i="1" dirty="0">
                <a:latin typeface="Georgia" panose="02040502050405020303" pitchFamily="18" charset="0"/>
              </a:rPr>
              <a:t>Data Preprocessing:</a:t>
            </a:r>
            <a:endParaRPr lang="en-IN" sz="2000" i="1" dirty="0">
              <a:latin typeface="Georgia" panose="02040502050405020303" pitchFamily="18" charset="0"/>
            </a:endParaRPr>
          </a:p>
          <a:p>
            <a:pPr lvl="1"/>
            <a:r>
              <a:rPr lang="en-IN" dirty="0">
                <a:latin typeface="Georgia" panose="02040502050405020303" pitchFamily="18" charset="0"/>
              </a:rPr>
              <a:t>Missing value handling</a:t>
            </a:r>
          </a:p>
          <a:p>
            <a:pPr lvl="1"/>
            <a:r>
              <a:rPr lang="en-IN" dirty="0">
                <a:latin typeface="Georgia" panose="02040502050405020303" pitchFamily="18" charset="0"/>
              </a:rPr>
              <a:t>Data normalization/scaling</a:t>
            </a:r>
          </a:p>
          <a:p>
            <a:pPr lvl="1"/>
            <a:endParaRPr lang="en-IN" dirty="0">
              <a:latin typeface="Georgia" panose="02040502050405020303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2000" b="1" i="1" dirty="0">
                <a:latin typeface="Georgia" panose="02040502050405020303" pitchFamily="18" charset="0"/>
              </a:rPr>
              <a:t>Exploratory Data Analysis (EDA):</a:t>
            </a:r>
            <a:endParaRPr lang="en-IN" sz="2000" i="1" dirty="0">
              <a:latin typeface="Georgia" panose="02040502050405020303" pitchFamily="18" charset="0"/>
            </a:endParaRPr>
          </a:p>
          <a:p>
            <a:pPr lvl="1"/>
            <a:r>
              <a:rPr lang="en-IN" dirty="0">
                <a:latin typeface="Georgia" panose="02040502050405020303" pitchFamily="18" charset="0"/>
              </a:rPr>
              <a:t>Fraud vs. Non-Fraud pattern visualization</a:t>
            </a:r>
          </a:p>
          <a:p>
            <a:pPr lvl="1"/>
            <a:endParaRPr lang="en-IN" dirty="0">
              <a:latin typeface="Georgia" panose="02040502050405020303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2000" b="1" i="1" dirty="0">
                <a:latin typeface="Georgia" panose="02040502050405020303" pitchFamily="18" charset="0"/>
              </a:rPr>
              <a:t>Feature Engineering</a:t>
            </a:r>
            <a:endParaRPr lang="en-IN" sz="2000" i="1" dirty="0">
              <a:latin typeface="Georgia" panose="02040502050405020303" pitchFamily="18" charset="0"/>
            </a:endParaRPr>
          </a:p>
          <a:p>
            <a:pPr lvl="1"/>
            <a:r>
              <a:rPr lang="en-IN" dirty="0">
                <a:latin typeface="Georgia" panose="02040502050405020303" pitchFamily="18" charset="0"/>
              </a:rPr>
              <a:t>Derived features: </a:t>
            </a:r>
            <a:r>
              <a:rPr lang="en-IN" dirty="0" err="1">
                <a:latin typeface="Georgia" panose="02040502050405020303" pitchFamily="18" charset="0"/>
              </a:rPr>
              <a:t>TransactionAmount_log</a:t>
            </a:r>
            <a:r>
              <a:rPr lang="en-IN" dirty="0">
                <a:latin typeface="Georgia" panose="02040502050405020303" pitchFamily="18" charset="0"/>
              </a:rPr>
              <a:t>, </a:t>
            </a:r>
            <a:r>
              <a:rPr lang="en-IN" dirty="0" err="1">
                <a:latin typeface="Georgia" panose="02040502050405020303" pitchFamily="18" charset="0"/>
              </a:rPr>
              <a:t>Time_Sin</a:t>
            </a:r>
            <a:r>
              <a:rPr lang="en-IN" dirty="0">
                <a:latin typeface="Georgia" panose="02040502050405020303" pitchFamily="18" charset="0"/>
              </a:rPr>
              <a:t>/Cos, </a:t>
            </a:r>
            <a:r>
              <a:rPr lang="en-IN" dirty="0" err="1">
                <a:latin typeface="Georgia" panose="02040502050405020303" pitchFamily="18" charset="0"/>
              </a:rPr>
              <a:t>TransactionFrequency</a:t>
            </a:r>
            <a:endParaRPr lang="en-IN" dirty="0">
              <a:latin typeface="Georgia" panose="02040502050405020303" pitchFamily="18" charset="0"/>
            </a:endParaRPr>
          </a:p>
          <a:p>
            <a:pPr lvl="1"/>
            <a:r>
              <a:rPr lang="en-IN" dirty="0">
                <a:latin typeface="Georgia" panose="02040502050405020303" pitchFamily="18" charset="0"/>
              </a:rPr>
              <a:t>Correlation-based feature selection</a:t>
            </a:r>
          </a:p>
          <a:p>
            <a:pPr lvl="1"/>
            <a:endParaRPr lang="en-IN" dirty="0">
              <a:latin typeface="Georgia" panose="02040502050405020303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2000" b="1" i="1" dirty="0">
                <a:latin typeface="Georgia" panose="02040502050405020303" pitchFamily="18" charset="0"/>
              </a:rPr>
              <a:t>Balancing Dataset</a:t>
            </a:r>
            <a:endParaRPr lang="en-IN" sz="2000" i="1" dirty="0">
              <a:latin typeface="Georgia" panose="02040502050405020303" pitchFamily="18" charset="0"/>
            </a:endParaRPr>
          </a:p>
          <a:p>
            <a:pPr lvl="1"/>
            <a:r>
              <a:rPr lang="en-IN" dirty="0">
                <a:latin typeface="Georgia" panose="02040502050405020303" pitchFamily="18" charset="0"/>
              </a:rPr>
              <a:t>Used </a:t>
            </a:r>
            <a:r>
              <a:rPr lang="en-IN" b="1" dirty="0">
                <a:latin typeface="Georgia" panose="02040502050405020303" pitchFamily="18" charset="0"/>
              </a:rPr>
              <a:t>SMOTE</a:t>
            </a:r>
            <a:r>
              <a:rPr lang="en-IN" dirty="0">
                <a:latin typeface="Georgia" panose="02040502050405020303" pitchFamily="18" charset="0"/>
              </a:rPr>
              <a:t> to handle class imbalance</a:t>
            </a:r>
          </a:p>
          <a:p>
            <a:pPr lvl="1"/>
            <a:endParaRPr lang="en-IN" dirty="0">
              <a:latin typeface="Georgia" panose="02040502050405020303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2000" b="1" i="1" dirty="0">
                <a:latin typeface="Georgia" panose="02040502050405020303" pitchFamily="18" charset="0"/>
              </a:rPr>
              <a:t>Model Training</a:t>
            </a:r>
            <a:endParaRPr lang="en-IN" sz="2000" i="1" dirty="0">
              <a:latin typeface="Georgia" panose="02040502050405020303" pitchFamily="18" charset="0"/>
            </a:endParaRPr>
          </a:p>
          <a:p>
            <a:pPr lvl="1"/>
            <a:r>
              <a:rPr lang="en-IN" dirty="0"/>
              <a:t>Random Forest &amp; Logistic Regression</a:t>
            </a:r>
          </a:p>
          <a:p>
            <a:pPr algn="ctr"/>
            <a:endParaRPr lang="en-US" sz="2800" b="0" i="1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Georgia" panose="020405020504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905918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27D892A-91F2-D0DA-DDF5-F38C979053C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A4EF356-F24A-6598-08BF-5825E70A857F}"/>
              </a:ext>
            </a:extLst>
          </p:cNvPr>
          <p:cNvSpPr/>
          <p:nvPr/>
        </p:nvSpPr>
        <p:spPr>
          <a:xfrm>
            <a:off x="496529" y="224135"/>
            <a:ext cx="11198942" cy="190821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3200" b="1" i="1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ambria" panose="02040503050406030204" pitchFamily="18" charset="0"/>
                <a:ea typeface="Cambria" panose="02040503050406030204" pitchFamily="18" charset="0"/>
              </a:rPr>
              <a:t>Project Working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b="1" i="1" dirty="0">
                <a:latin typeface="Georgia" panose="02040502050405020303" pitchFamily="18" charset="0"/>
              </a:rPr>
              <a:t>Watch my project demo here : </a:t>
            </a:r>
            <a:r>
              <a:rPr lang="en-US" b="1" i="1" dirty="0">
                <a:latin typeface="Georgia" panose="02040502050405020303" pitchFamily="18" charset="0"/>
                <a:hlinkClick r:id="rId2"/>
              </a:rPr>
              <a:t>watch video </a:t>
            </a:r>
            <a:endParaRPr lang="en-US" b="1" i="1" dirty="0">
              <a:latin typeface="Georgia" panose="02040502050405020303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b="1" i="1" dirty="0">
                <a:latin typeface="Georgia" panose="02040502050405020303" pitchFamily="18" charset="0"/>
              </a:rPr>
              <a:t>View live this project: </a:t>
            </a:r>
            <a:r>
              <a:rPr lang="en-US" b="1" i="1" dirty="0">
                <a:latin typeface="Georgia" panose="02040502050405020303" pitchFamily="18" charset="0"/>
                <a:hlinkClick r:id="rId3"/>
              </a:rPr>
              <a:t>visit the web app</a:t>
            </a:r>
            <a:endParaRPr lang="en-US" b="1" i="1" dirty="0">
              <a:latin typeface="Georgia" panose="02040502050405020303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b="1" i="1" dirty="0">
                <a:latin typeface="Georgia" panose="02040502050405020303" pitchFamily="18" charset="0"/>
              </a:rPr>
              <a:t>Source code:  </a:t>
            </a:r>
            <a:r>
              <a:rPr lang="en-US" b="1" i="1" dirty="0">
                <a:latin typeface="Georgia" panose="02040502050405020303" pitchFamily="18" charset="0"/>
                <a:hlinkClick r:id="rId4"/>
              </a:rPr>
              <a:t>view source code on </a:t>
            </a:r>
            <a:r>
              <a:rPr lang="en-US" b="1" i="1" dirty="0" err="1">
                <a:latin typeface="Georgia" panose="02040502050405020303" pitchFamily="18" charset="0"/>
                <a:hlinkClick r:id="rId4"/>
              </a:rPr>
              <a:t>github</a:t>
            </a:r>
            <a:r>
              <a:rPr lang="en-US" b="1" i="1" dirty="0">
                <a:latin typeface="Georgia" panose="02040502050405020303" pitchFamily="18" charset="0"/>
                <a:hlinkClick r:id="rId4"/>
              </a:rPr>
              <a:t> </a:t>
            </a:r>
            <a:endParaRPr lang="en-US" b="1" i="1" dirty="0">
              <a:latin typeface="Georgia" panose="02040502050405020303" pitchFamily="18" charset="0"/>
            </a:endParaRPr>
          </a:p>
          <a:p>
            <a:pPr algn="ctr"/>
            <a:endParaRPr lang="en-US" sz="3200" b="1" i="1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E902C07-8B00-DD4D-C6B9-27E04CA20FA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2955" y="4448325"/>
            <a:ext cx="5004619" cy="218554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387F5DE-D364-0E4C-FA55-01E34D90429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77350" y="4448325"/>
            <a:ext cx="6302477" cy="218554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92F4C66-3E8A-E019-734E-98B72561446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2956" y="1936568"/>
            <a:ext cx="11466872" cy="24387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49562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03F1A30-7630-5A66-7212-2663347B211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2618" y="275303"/>
            <a:ext cx="11326763" cy="290051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2567798-3E25-1008-DD17-0432672277C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2618" y="3574026"/>
            <a:ext cx="11326763" cy="30086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60754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DCA7AAA-B2E6-D5C3-7E86-92B6A84338D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986" y="255639"/>
            <a:ext cx="6125498" cy="297917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6BBCD29-002D-6581-AC53-3CD2137BA84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43484" y="255640"/>
            <a:ext cx="5692877" cy="288085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E071447-63B6-C882-5515-713DCB98335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986" y="3429000"/>
            <a:ext cx="6125498" cy="30480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552236D-4DF9-296F-CCA8-3B8B2F2A072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43483" y="3596150"/>
            <a:ext cx="5692877" cy="2880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55523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F6AB64C-629F-5292-33E5-29783EFE264B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23B1597-A136-EF92-044D-D8DF9C66D7EE}"/>
              </a:ext>
            </a:extLst>
          </p:cNvPr>
          <p:cNvSpPr/>
          <p:nvPr/>
        </p:nvSpPr>
        <p:spPr>
          <a:xfrm>
            <a:off x="352927" y="449179"/>
            <a:ext cx="11454062" cy="566308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2800" b="1" i="1" dirty="0">
                <a:latin typeface="Cambria" panose="02040503050406030204" pitchFamily="18" charset="0"/>
                <a:ea typeface="Cambria" panose="02040503050406030204" pitchFamily="18" charset="0"/>
              </a:rPr>
              <a:t>Application / Use Case</a:t>
            </a:r>
          </a:p>
          <a:p>
            <a:pPr algn="ctr"/>
            <a:endParaRPr lang="en-US" sz="2800" b="1" i="1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400" b="1" i="1" dirty="0">
                <a:latin typeface="Georgia" panose="02040502050405020303" pitchFamily="18" charset="0"/>
              </a:rPr>
              <a:t>Real-World Applications:</a:t>
            </a:r>
          </a:p>
          <a:p>
            <a:pPr marL="342900" indent="-34290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sz="2000" dirty="0">
                <a:latin typeface="Georgia" panose="02040502050405020303" pitchFamily="18" charset="0"/>
              </a:rPr>
              <a:t> </a:t>
            </a:r>
            <a:r>
              <a:rPr lang="en-US" sz="2000" b="1" dirty="0">
                <a:latin typeface="Georgia" panose="02040502050405020303" pitchFamily="18" charset="0"/>
              </a:rPr>
              <a:t>Banking &amp; Financial Institutions:</a:t>
            </a:r>
            <a:r>
              <a:rPr lang="en-US" sz="2000" dirty="0">
                <a:latin typeface="Georgia" panose="02040502050405020303" pitchFamily="18" charset="0"/>
              </a:rPr>
              <a:t> Detect and block fraudulent credit card transactions in real-time.</a:t>
            </a:r>
          </a:p>
          <a:p>
            <a:pPr marL="342900" indent="-34290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sz="2000" dirty="0">
                <a:latin typeface="Georgia" panose="02040502050405020303" pitchFamily="18" charset="0"/>
              </a:rPr>
              <a:t> </a:t>
            </a:r>
            <a:r>
              <a:rPr lang="en-US" sz="2000" b="1" dirty="0">
                <a:latin typeface="Georgia" panose="02040502050405020303" pitchFamily="18" charset="0"/>
              </a:rPr>
              <a:t>E-commerce:</a:t>
            </a:r>
            <a:r>
              <a:rPr lang="en-US" sz="2000" dirty="0">
                <a:latin typeface="Georgia" panose="02040502050405020303" pitchFamily="18" charset="0"/>
              </a:rPr>
              <a:t> Prevent fake purchases or account takeovers.</a:t>
            </a:r>
          </a:p>
          <a:p>
            <a:pPr marL="342900" indent="-34290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sz="2000" dirty="0">
                <a:latin typeface="Georgia" panose="02040502050405020303" pitchFamily="18" charset="0"/>
              </a:rPr>
              <a:t> </a:t>
            </a:r>
            <a:r>
              <a:rPr lang="en-US" sz="2000" b="1" dirty="0">
                <a:latin typeface="Georgia" panose="02040502050405020303" pitchFamily="18" charset="0"/>
              </a:rPr>
              <a:t>Payment Gateways:</a:t>
            </a:r>
            <a:r>
              <a:rPr lang="en-US" sz="2000" dirty="0">
                <a:latin typeface="Georgia" panose="02040502050405020303" pitchFamily="18" charset="0"/>
              </a:rPr>
              <a:t> Improve fraud scoring and transaction authentication systems.</a:t>
            </a:r>
          </a:p>
          <a:p>
            <a:pPr marL="342900" indent="-342900">
              <a:lnSpc>
                <a:spcPct val="150000"/>
              </a:lnSpc>
              <a:buFont typeface="Courier New" panose="02070309020205020404" pitchFamily="49" charset="0"/>
              <a:buChar char="o"/>
            </a:pPr>
            <a:endParaRPr lang="en-US" sz="2000" dirty="0">
              <a:latin typeface="Georgia" panose="02040502050405020303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400" b="1" i="1" dirty="0">
                <a:latin typeface="Georgia" panose="02040502050405020303" pitchFamily="18" charset="0"/>
              </a:rPr>
              <a:t>Impact:</a:t>
            </a:r>
          </a:p>
          <a:p>
            <a:pPr marL="342900" indent="-34290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sz="2000" i="1" dirty="0">
                <a:latin typeface="Georgia" panose="02040502050405020303" pitchFamily="18" charset="0"/>
              </a:rPr>
              <a:t>Reduces financial loss</a:t>
            </a:r>
          </a:p>
          <a:p>
            <a:pPr marL="342900" indent="-34290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sz="2000" i="1" dirty="0">
                <a:latin typeface="Georgia" panose="02040502050405020303" pitchFamily="18" charset="0"/>
              </a:rPr>
              <a:t>Builds customer trust</a:t>
            </a:r>
          </a:p>
          <a:p>
            <a:pPr marL="342900" indent="-34290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sz="2000" i="1" dirty="0">
                <a:latin typeface="Georgia" panose="02040502050405020303" pitchFamily="18" charset="0"/>
              </a:rPr>
              <a:t>Enables smarter fraud prevention systems</a:t>
            </a:r>
          </a:p>
          <a:p>
            <a:pPr algn="ctr"/>
            <a:endParaRPr lang="en-US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Georgia" panose="020405020504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692252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58AA08F-B0DE-AC6A-CE01-F2F8C927006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58633" y="1504334"/>
            <a:ext cx="2733367" cy="2627509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 prst="relaxedInset"/>
          </a:sp3d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40566E84-4667-D38D-5E7D-8072E65FD4DD}"/>
              </a:ext>
            </a:extLst>
          </p:cNvPr>
          <p:cNvSpPr/>
          <p:nvPr/>
        </p:nvSpPr>
        <p:spPr>
          <a:xfrm>
            <a:off x="924232" y="342123"/>
            <a:ext cx="10491018" cy="5232202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3200" b="1" i="1" dirty="0">
                <a:solidFill>
                  <a:srgbClr val="7030A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Issues Faced</a:t>
            </a:r>
          </a:p>
          <a:p>
            <a:pPr algn="ctr"/>
            <a:endParaRPr lang="en-US" sz="3200" b="1" i="1" dirty="0">
              <a:solidFill>
                <a:srgbClr val="7030A0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2000" b="1" dirty="0">
                <a:latin typeface="Georgia" panose="02040502050405020303" pitchFamily="18" charset="0"/>
              </a:rPr>
              <a:t>Highly Imbalanced Data:</a:t>
            </a:r>
            <a:br>
              <a:rPr lang="en-US" sz="2400" dirty="0"/>
            </a:br>
            <a:r>
              <a:rPr lang="en-US" sz="2000" i="1" dirty="0">
                <a:latin typeface="Georgia" panose="02040502050405020303" pitchFamily="18" charset="0"/>
              </a:rPr>
              <a:t>Fraud cases &lt; 0.2% of total transactions.</a:t>
            </a:r>
          </a:p>
          <a:p>
            <a:pPr>
              <a:lnSpc>
                <a:spcPct val="150000"/>
              </a:lnSpc>
            </a:pPr>
            <a:r>
              <a:rPr lang="en-US" sz="2000" b="1" i="1" dirty="0">
                <a:latin typeface="Georgia" panose="02040502050405020303" pitchFamily="18" charset="0"/>
              </a:rPr>
              <a:t>High Dimensionality:</a:t>
            </a:r>
            <a:br>
              <a:rPr lang="en-US" sz="2400" dirty="0"/>
            </a:br>
            <a:r>
              <a:rPr lang="en-US" sz="2000" i="1" dirty="0">
                <a:latin typeface="Georgia" panose="02040502050405020303" pitchFamily="18" charset="0"/>
              </a:rPr>
              <a:t>Dataset contains many redundant or noisy features.</a:t>
            </a:r>
          </a:p>
          <a:p>
            <a:pPr>
              <a:lnSpc>
                <a:spcPct val="150000"/>
              </a:lnSpc>
            </a:pPr>
            <a:r>
              <a:rPr lang="en-US" sz="2000" b="1" i="1" dirty="0">
                <a:latin typeface="Georgia" panose="02040502050405020303" pitchFamily="18" charset="0"/>
              </a:rPr>
              <a:t>Model Overfitting:</a:t>
            </a:r>
            <a:br>
              <a:rPr lang="en-US" sz="2400" dirty="0"/>
            </a:br>
            <a:r>
              <a:rPr lang="en-US" sz="2000" i="1" dirty="0">
                <a:latin typeface="Georgia" panose="02040502050405020303" pitchFamily="18" charset="0"/>
              </a:rPr>
              <a:t>Early models performed well on training but poorly on test data.</a:t>
            </a:r>
          </a:p>
          <a:p>
            <a:pPr>
              <a:lnSpc>
                <a:spcPct val="150000"/>
              </a:lnSpc>
            </a:pPr>
            <a:r>
              <a:rPr lang="en-US" sz="2000" b="1" i="1" dirty="0">
                <a:latin typeface="Georgia" panose="02040502050405020303" pitchFamily="18" charset="0"/>
              </a:rPr>
              <a:t>Feature Correlation:</a:t>
            </a:r>
            <a:br>
              <a:rPr lang="en-US" sz="2400" dirty="0"/>
            </a:br>
            <a:r>
              <a:rPr lang="en-US" sz="2000" i="1" dirty="0">
                <a:latin typeface="Georgia" panose="02040502050405020303" pitchFamily="18" charset="0"/>
              </a:rPr>
              <a:t>Some features were strongly correlated, confusing the model.</a:t>
            </a:r>
          </a:p>
          <a:p>
            <a:pPr algn="ctr"/>
            <a:endParaRPr lang="en-US" sz="2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758374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364DA1D-BEAD-BA60-EE87-D5BFD428B20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48210" y="3760839"/>
            <a:ext cx="2000250" cy="2286000"/>
          </a:xfrm>
          <a:prstGeom prst="rect">
            <a:avLst/>
          </a:prstGeom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DC8752F0-962F-AEA7-41F3-F7D52BC368F0}"/>
              </a:ext>
            </a:extLst>
          </p:cNvPr>
          <p:cNvSpPr/>
          <p:nvPr/>
        </p:nvSpPr>
        <p:spPr>
          <a:xfrm>
            <a:off x="634181" y="479774"/>
            <a:ext cx="10259962" cy="5293757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3200" b="1" i="1" dirty="0">
                <a:solidFill>
                  <a:srgbClr val="00B0F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Overcoming the Issues</a:t>
            </a:r>
          </a:p>
          <a:p>
            <a:pPr>
              <a:lnSpc>
                <a:spcPct val="150000"/>
              </a:lnSpc>
            </a:pPr>
            <a:r>
              <a:rPr lang="en-US" sz="2800" dirty="0"/>
              <a:t> </a:t>
            </a:r>
            <a:r>
              <a:rPr lang="en-US" sz="2000" b="1" i="1" dirty="0">
                <a:latin typeface="Georgia" panose="02040502050405020303" pitchFamily="18" charset="0"/>
              </a:rPr>
              <a:t>Applied SMOTE</a:t>
            </a:r>
            <a:r>
              <a:rPr lang="en-US" sz="2000" i="1" dirty="0">
                <a:latin typeface="Georgia" panose="02040502050405020303" pitchFamily="18" charset="0"/>
              </a:rPr>
              <a:t> – Balanced minority and majority classes.</a:t>
            </a:r>
            <a:br>
              <a:rPr lang="en-US" sz="2000" i="1" dirty="0">
                <a:latin typeface="Georgia" panose="02040502050405020303" pitchFamily="18" charset="0"/>
              </a:rPr>
            </a:br>
            <a:r>
              <a:rPr lang="en-US" sz="2000" i="1" dirty="0">
                <a:latin typeface="Georgia" panose="02040502050405020303" pitchFamily="18" charset="0"/>
              </a:rPr>
              <a:t> </a:t>
            </a:r>
            <a:r>
              <a:rPr lang="en-US" sz="2000" b="1" i="1" dirty="0">
                <a:latin typeface="Georgia" panose="02040502050405020303" pitchFamily="18" charset="0"/>
              </a:rPr>
              <a:t>Feature Scaling &amp; Normalization</a:t>
            </a:r>
            <a:r>
              <a:rPr lang="en-US" sz="2000" i="1" dirty="0">
                <a:latin typeface="Georgia" panose="02040502050405020303" pitchFamily="18" charset="0"/>
              </a:rPr>
              <a:t> – Used </a:t>
            </a:r>
            <a:r>
              <a:rPr lang="en-US" sz="2000" i="1" dirty="0" err="1">
                <a:latin typeface="Georgia" panose="02040502050405020303" pitchFamily="18" charset="0"/>
              </a:rPr>
              <a:t>MinMaxScaler</a:t>
            </a:r>
            <a:r>
              <a:rPr lang="en-US" sz="2000" i="1" dirty="0">
                <a:latin typeface="Georgia" panose="02040502050405020303" pitchFamily="18" charset="0"/>
              </a:rPr>
              <a:t> for uniformity.</a:t>
            </a:r>
            <a:br>
              <a:rPr lang="en-US" sz="2000" i="1" dirty="0">
                <a:latin typeface="Georgia" panose="02040502050405020303" pitchFamily="18" charset="0"/>
              </a:rPr>
            </a:br>
            <a:r>
              <a:rPr lang="en-US" sz="2000" i="1" dirty="0">
                <a:latin typeface="Georgia" panose="02040502050405020303" pitchFamily="18" charset="0"/>
              </a:rPr>
              <a:t> </a:t>
            </a:r>
            <a:r>
              <a:rPr lang="en-US" sz="2000" b="1" i="1" dirty="0">
                <a:latin typeface="Georgia" panose="02040502050405020303" pitchFamily="18" charset="0"/>
              </a:rPr>
              <a:t>Feature Selection</a:t>
            </a:r>
            <a:r>
              <a:rPr lang="en-US" sz="2000" i="1" dirty="0">
                <a:latin typeface="Georgia" panose="02040502050405020303" pitchFamily="18" charset="0"/>
              </a:rPr>
              <a:t> – Used correlation heatmap and </a:t>
            </a:r>
            <a:r>
              <a:rPr lang="en-US" sz="2000" i="1" dirty="0" err="1">
                <a:latin typeface="Georgia" panose="02040502050405020303" pitchFamily="18" charset="0"/>
              </a:rPr>
              <a:t>SelectKBest</a:t>
            </a:r>
            <a:r>
              <a:rPr lang="en-US" sz="2000" i="1" dirty="0">
                <a:latin typeface="Georgia" panose="02040502050405020303" pitchFamily="18" charset="0"/>
              </a:rPr>
              <a:t>.</a:t>
            </a:r>
            <a:br>
              <a:rPr lang="en-US" sz="2000" i="1" dirty="0">
                <a:latin typeface="Georgia" panose="02040502050405020303" pitchFamily="18" charset="0"/>
              </a:rPr>
            </a:br>
            <a:r>
              <a:rPr lang="en-US" sz="2000" i="1" dirty="0">
                <a:latin typeface="Georgia" panose="02040502050405020303" pitchFamily="18" charset="0"/>
              </a:rPr>
              <a:t> </a:t>
            </a:r>
            <a:r>
              <a:rPr lang="en-US" sz="2000" b="1" i="1" dirty="0">
                <a:latin typeface="Georgia" panose="02040502050405020303" pitchFamily="18" charset="0"/>
              </a:rPr>
              <a:t>Regularization (L2)</a:t>
            </a:r>
            <a:r>
              <a:rPr lang="en-US" sz="2000" i="1" dirty="0">
                <a:latin typeface="Georgia" panose="02040502050405020303" pitchFamily="18" charset="0"/>
              </a:rPr>
              <a:t> – Prevented overfitting.</a:t>
            </a:r>
            <a:br>
              <a:rPr lang="en-US" sz="2000" i="1" dirty="0">
                <a:latin typeface="Georgia" panose="02040502050405020303" pitchFamily="18" charset="0"/>
              </a:rPr>
            </a:br>
            <a:r>
              <a:rPr lang="en-US" sz="2000" i="1" dirty="0">
                <a:latin typeface="Georgia" panose="02040502050405020303" pitchFamily="18" charset="0"/>
              </a:rPr>
              <a:t> </a:t>
            </a:r>
            <a:r>
              <a:rPr lang="en-US" sz="2000" b="1" i="1" dirty="0">
                <a:latin typeface="Georgia" panose="02040502050405020303" pitchFamily="18" charset="0"/>
              </a:rPr>
              <a:t>Cross-Validation</a:t>
            </a:r>
            <a:r>
              <a:rPr lang="en-US" sz="2000" i="1" dirty="0">
                <a:latin typeface="Georgia" panose="02040502050405020303" pitchFamily="18" charset="0"/>
              </a:rPr>
              <a:t> – Ensured generalization and stability of model performance.</a:t>
            </a:r>
          </a:p>
          <a:p>
            <a:endParaRPr lang="en-US" sz="2800" b="1" dirty="0">
              <a:latin typeface="Georgia" panose="02040502050405020303" pitchFamily="18" charset="0"/>
            </a:endParaRPr>
          </a:p>
          <a:p>
            <a:r>
              <a:rPr lang="en-US" sz="2800" b="1" dirty="0">
                <a:latin typeface="Georgia" panose="02040502050405020303" pitchFamily="18" charset="0"/>
              </a:rPr>
              <a:t>Outcome:</a:t>
            </a:r>
            <a:endParaRPr lang="en-US" sz="2800" dirty="0">
              <a:latin typeface="Georgia" panose="02040502050405020303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2000" i="1" dirty="0">
                <a:latin typeface="Georgia" panose="02040502050405020303" pitchFamily="18" charset="0"/>
              </a:rPr>
              <a:t>Model AUC improved from </a:t>
            </a:r>
            <a:r>
              <a:rPr lang="en-US" sz="2000" b="1" i="1" dirty="0">
                <a:latin typeface="Georgia" panose="02040502050405020303" pitchFamily="18" charset="0"/>
              </a:rPr>
              <a:t>0.83 → 0.95</a:t>
            </a:r>
            <a:endParaRPr lang="en-US" sz="2000" i="1" dirty="0">
              <a:latin typeface="Georgia" panose="02040502050405020303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2000" i="1" dirty="0">
                <a:latin typeface="Georgia" panose="02040502050405020303" pitchFamily="18" charset="0"/>
              </a:rPr>
              <a:t>Precision and Recall increased significantly for fraud detection class.</a:t>
            </a:r>
          </a:p>
          <a:p>
            <a:pPr algn="ctr"/>
            <a:endParaRPr lang="en-US" sz="28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Georgia" panose="020405020504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8770949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B33A7ADA-766A-62BC-5B65-F2110EE8864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58764" y="2245441"/>
            <a:ext cx="3429000" cy="3429000"/>
          </a:xfrm>
          <a:prstGeom prst="rect">
            <a:avLst/>
          </a:prstGeom>
          <a:effectLst>
            <a:outerShdw blurRad="76200" dist="12700" dir="8100000" sy="-23000" kx="800400" algn="br" rotWithShape="0">
              <a:prstClr val="black">
                <a:alpha val="20000"/>
              </a:prstClr>
            </a:outerShdw>
          </a:effectLst>
          <a:scene3d>
            <a:camera prst="orthographicFront"/>
            <a:lightRig rig="threePt" dir="t"/>
          </a:scene3d>
          <a:sp3d>
            <a:bevelT prst="angle"/>
          </a:sp3d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B484CD24-ED43-6FD4-051F-41863D4C20E9}"/>
              </a:ext>
            </a:extLst>
          </p:cNvPr>
          <p:cNvSpPr/>
          <p:nvPr/>
        </p:nvSpPr>
        <p:spPr>
          <a:xfrm>
            <a:off x="570272" y="312626"/>
            <a:ext cx="11346426" cy="6001643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IN" sz="2800" b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IN" sz="2800" b="1" i="1" dirty="0">
                <a:latin typeface="Cambria" panose="02040503050406030204" pitchFamily="18" charset="0"/>
                <a:ea typeface="Cambria" panose="02040503050406030204" pitchFamily="18" charset="0"/>
              </a:rPr>
              <a:t>Future Enhancements</a:t>
            </a:r>
          </a:p>
          <a:p>
            <a:pPr algn="ctr"/>
            <a:endParaRPr lang="en-IN" sz="2800" b="1" i="1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 sz="2000" b="1" i="1" dirty="0">
                <a:latin typeface="Georgia" panose="02040502050405020303" pitchFamily="18" charset="0"/>
              </a:rPr>
              <a:t>Deep Learning Integration:</a:t>
            </a:r>
            <a:endParaRPr lang="en-IN" sz="2000" i="1" dirty="0">
              <a:latin typeface="Georgia" panose="02040502050405020303" pitchFamily="18" charset="0"/>
            </a:endParaRPr>
          </a:p>
          <a:p>
            <a:pPr lvl="1">
              <a:lnSpc>
                <a:spcPct val="150000"/>
              </a:lnSpc>
            </a:pPr>
            <a:r>
              <a:rPr lang="en-IN" sz="2000" i="1" dirty="0">
                <a:latin typeface="Georgia" panose="02040502050405020303" pitchFamily="18" charset="0"/>
              </a:rPr>
              <a:t>Implement </a:t>
            </a:r>
            <a:r>
              <a:rPr lang="en-IN" sz="2000" b="1" i="1" dirty="0">
                <a:latin typeface="Georgia" panose="02040502050405020303" pitchFamily="18" charset="0"/>
              </a:rPr>
              <a:t>Autoencoders</a:t>
            </a:r>
            <a:r>
              <a:rPr lang="en-IN" sz="2000" i="1" dirty="0">
                <a:latin typeface="Georgia" panose="02040502050405020303" pitchFamily="18" charset="0"/>
              </a:rPr>
              <a:t> and </a:t>
            </a:r>
            <a:r>
              <a:rPr lang="en-IN" sz="2000" b="1" i="1" dirty="0">
                <a:latin typeface="Georgia" panose="02040502050405020303" pitchFamily="18" charset="0"/>
              </a:rPr>
              <a:t>LSTM</a:t>
            </a:r>
            <a:r>
              <a:rPr lang="en-IN" sz="2000" i="1" dirty="0">
                <a:latin typeface="Georgia" panose="02040502050405020303" pitchFamily="18" charset="0"/>
              </a:rPr>
              <a:t> for sequence-based fraud detection.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 sz="2000" b="1" i="1" dirty="0">
                <a:latin typeface="Georgia" panose="02040502050405020303" pitchFamily="18" charset="0"/>
              </a:rPr>
              <a:t>Real-time Detection System:</a:t>
            </a:r>
            <a:endParaRPr lang="en-IN" sz="2000" i="1" dirty="0">
              <a:latin typeface="Georgia" panose="02040502050405020303" pitchFamily="18" charset="0"/>
            </a:endParaRPr>
          </a:p>
          <a:p>
            <a:pPr lvl="1">
              <a:lnSpc>
                <a:spcPct val="150000"/>
              </a:lnSpc>
            </a:pPr>
            <a:r>
              <a:rPr lang="en-IN" sz="2000" i="1" dirty="0">
                <a:latin typeface="Georgia" panose="02040502050405020303" pitchFamily="18" charset="0"/>
              </a:rPr>
              <a:t>Deploy using </a:t>
            </a:r>
            <a:r>
              <a:rPr lang="en-IN" sz="2000" b="1" i="1" dirty="0" err="1">
                <a:latin typeface="Georgia" panose="02040502050405020303" pitchFamily="18" charset="0"/>
              </a:rPr>
              <a:t>Streamlit</a:t>
            </a:r>
            <a:r>
              <a:rPr lang="en-IN" sz="2000" i="1" dirty="0">
                <a:latin typeface="Georgia" panose="02040502050405020303" pitchFamily="18" charset="0"/>
              </a:rPr>
              <a:t> or </a:t>
            </a:r>
            <a:r>
              <a:rPr lang="en-IN" sz="2000" b="1" i="1" dirty="0">
                <a:latin typeface="Georgia" panose="02040502050405020303" pitchFamily="18" charset="0"/>
              </a:rPr>
              <a:t>Flask API</a:t>
            </a:r>
            <a:r>
              <a:rPr lang="en-IN" sz="2000" i="1" dirty="0">
                <a:latin typeface="Georgia" panose="02040502050405020303" pitchFamily="18" charset="0"/>
              </a:rPr>
              <a:t> on IBM Cloud.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 sz="2000" b="1" i="1" dirty="0">
                <a:latin typeface="Georgia" panose="02040502050405020303" pitchFamily="18" charset="0"/>
              </a:rPr>
              <a:t>Explainable AI (XAI):</a:t>
            </a:r>
            <a:endParaRPr lang="en-IN" sz="2000" i="1" dirty="0">
              <a:latin typeface="Georgia" panose="02040502050405020303" pitchFamily="18" charset="0"/>
            </a:endParaRPr>
          </a:p>
          <a:p>
            <a:pPr lvl="1">
              <a:lnSpc>
                <a:spcPct val="150000"/>
              </a:lnSpc>
            </a:pPr>
            <a:r>
              <a:rPr lang="en-IN" sz="2000" i="1" dirty="0">
                <a:latin typeface="Georgia" panose="02040502050405020303" pitchFamily="18" charset="0"/>
              </a:rPr>
              <a:t>Use SHAP/LIME to interpret fraud predictions.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 sz="2000" b="1" i="1" dirty="0">
                <a:latin typeface="Georgia" panose="02040502050405020303" pitchFamily="18" charset="0"/>
              </a:rPr>
              <a:t>Continuous Learning:</a:t>
            </a:r>
            <a:endParaRPr lang="en-IN" sz="2000" i="1" dirty="0">
              <a:latin typeface="Georgia" panose="02040502050405020303" pitchFamily="18" charset="0"/>
            </a:endParaRPr>
          </a:p>
          <a:p>
            <a:pPr lvl="1">
              <a:lnSpc>
                <a:spcPct val="150000"/>
              </a:lnSpc>
            </a:pPr>
            <a:r>
              <a:rPr lang="en-IN" sz="2000" i="1" dirty="0">
                <a:latin typeface="Georgia" panose="02040502050405020303" pitchFamily="18" charset="0"/>
              </a:rPr>
              <a:t>Implement feedback-based retraining with new data.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 sz="2000" b="1" i="1" dirty="0">
                <a:latin typeface="Georgia" panose="02040502050405020303" pitchFamily="18" charset="0"/>
              </a:rPr>
              <a:t>Blockchain Integration:</a:t>
            </a:r>
            <a:endParaRPr lang="en-IN" sz="2000" i="1" dirty="0">
              <a:latin typeface="Georgia" panose="02040502050405020303" pitchFamily="18" charset="0"/>
            </a:endParaRPr>
          </a:p>
          <a:p>
            <a:pPr lvl="1">
              <a:lnSpc>
                <a:spcPct val="150000"/>
              </a:lnSpc>
            </a:pPr>
            <a:r>
              <a:rPr lang="en-IN" sz="2000" i="1" dirty="0">
                <a:latin typeface="Georgia" panose="02040502050405020303" pitchFamily="18" charset="0"/>
              </a:rPr>
              <a:t>Secure transaction data validation.</a:t>
            </a:r>
          </a:p>
          <a:p>
            <a:pPr algn="ctr"/>
            <a:endParaRPr lang="en-US" sz="2800" b="0" i="1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Georgia" panose="020405020504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0230135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58CE31D-99D8-F8A6-BC6D-CE018CFEF34A}"/>
              </a:ext>
            </a:extLst>
          </p:cNvPr>
          <p:cNvSpPr/>
          <p:nvPr/>
        </p:nvSpPr>
        <p:spPr>
          <a:xfrm>
            <a:off x="373626" y="240841"/>
            <a:ext cx="11444747" cy="470898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3200" b="1" i="1" dirty="0"/>
              <a:t>Conclusion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000" i="1" dirty="0">
                <a:latin typeface="Georgia" panose="02040502050405020303" pitchFamily="18" charset="0"/>
              </a:rPr>
              <a:t>Feature Engineering is the backbone of an effective fraud detection system.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000" i="1" dirty="0">
                <a:latin typeface="Georgia" panose="02040502050405020303" pitchFamily="18" charset="0"/>
              </a:rPr>
              <a:t>Improved data representation led to better model precision, recall, and AUC.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000" i="1" dirty="0">
                <a:latin typeface="Georgia" panose="02040502050405020303" pitchFamily="18" charset="0"/>
              </a:rPr>
              <a:t>Demonstrated how intelligent preprocessing can drastically reduce false positives and negatives.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en-US" sz="2000" i="1" dirty="0">
              <a:latin typeface="Georgia" panose="02040502050405020303" pitchFamily="18" charset="0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000" b="1" i="1" dirty="0">
                <a:latin typeface="Georgia" panose="02040502050405020303" pitchFamily="18" charset="0"/>
              </a:rPr>
              <a:t>Watch my project demo here : </a:t>
            </a:r>
            <a:r>
              <a:rPr lang="en-US" sz="2000" b="1" i="1" dirty="0">
                <a:latin typeface="Georgia" panose="02040502050405020303" pitchFamily="18" charset="0"/>
                <a:hlinkClick r:id="rId2"/>
              </a:rPr>
              <a:t>watch video </a:t>
            </a:r>
            <a:endParaRPr lang="en-US" sz="2000" b="1" i="1" dirty="0">
              <a:latin typeface="Georgia" panose="02040502050405020303" pitchFamily="18" charset="0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000" b="1" i="1" dirty="0">
                <a:latin typeface="Georgia" panose="02040502050405020303" pitchFamily="18" charset="0"/>
              </a:rPr>
              <a:t>View live this project: </a:t>
            </a:r>
            <a:r>
              <a:rPr lang="en-US" sz="2000" b="1" i="1" dirty="0">
                <a:latin typeface="Georgia" panose="02040502050405020303" pitchFamily="18" charset="0"/>
                <a:hlinkClick r:id="rId3"/>
              </a:rPr>
              <a:t>visit the web app</a:t>
            </a:r>
            <a:endParaRPr lang="en-US" sz="2000" b="1" i="1" dirty="0">
              <a:latin typeface="Georgia" panose="02040502050405020303" pitchFamily="18" charset="0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000" b="1" i="1" dirty="0">
                <a:latin typeface="Georgia" panose="02040502050405020303" pitchFamily="18" charset="0"/>
              </a:rPr>
              <a:t>Source code:  </a:t>
            </a:r>
            <a:r>
              <a:rPr lang="en-US" sz="2000" b="1" i="1" dirty="0">
                <a:latin typeface="Georgia" panose="02040502050405020303" pitchFamily="18" charset="0"/>
                <a:hlinkClick r:id="rId4"/>
              </a:rPr>
              <a:t>view source code on </a:t>
            </a:r>
            <a:r>
              <a:rPr lang="en-US" sz="2000" b="1" i="1" dirty="0" err="1">
                <a:latin typeface="Georgia" panose="02040502050405020303" pitchFamily="18" charset="0"/>
                <a:hlinkClick r:id="rId4"/>
              </a:rPr>
              <a:t>github</a:t>
            </a:r>
            <a:r>
              <a:rPr lang="en-US" sz="2000" b="1" i="1" dirty="0">
                <a:latin typeface="Georgia" panose="02040502050405020303" pitchFamily="18" charset="0"/>
                <a:hlinkClick r:id="rId4"/>
              </a:rPr>
              <a:t> </a:t>
            </a:r>
            <a:endParaRPr lang="en-US" sz="2000" b="1" i="1" dirty="0">
              <a:latin typeface="Georgia" panose="02040502050405020303" pitchFamily="18" charset="0"/>
            </a:endParaRPr>
          </a:p>
          <a:p>
            <a:pPr algn="ctr"/>
            <a:endParaRPr lang="en-US" sz="28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356817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734</TotalTime>
  <Words>562</Words>
  <Application>Microsoft Office PowerPoint</Application>
  <PresentationFormat>Widescreen</PresentationFormat>
  <Paragraphs>85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23" baseType="lpstr">
      <vt:lpstr>ADLaM Display</vt:lpstr>
      <vt:lpstr>Amasis MT Pro Black</vt:lpstr>
      <vt:lpstr>Arial</vt:lpstr>
      <vt:lpstr>Bodoni MT Black</vt:lpstr>
      <vt:lpstr>Calibri</vt:lpstr>
      <vt:lpstr>Calibri Light</vt:lpstr>
      <vt:lpstr>Cambria</vt:lpstr>
      <vt:lpstr>Courier New</vt:lpstr>
      <vt:lpstr>Georgia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sajalsamanta964@gmail.com</dc:creator>
  <cp:lastModifiedBy>sajalsamanta964@gmail.com</cp:lastModifiedBy>
  <cp:revision>2</cp:revision>
  <dcterms:created xsi:type="dcterms:W3CDTF">2025-11-09T16:53:37Z</dcterms:created>
  <dcterms:modified xsi:type="dcterms:W3CDTF">2025-11-10T17:56:51Z</dcterms:modified>
</cp:coreProperties>
</file>